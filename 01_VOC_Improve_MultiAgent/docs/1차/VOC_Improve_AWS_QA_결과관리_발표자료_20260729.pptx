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e4113f45bf4e69" /><Relationship Type="http://schemas.openxmlformats.org/officeDocument/2006/relationships/extended-properties" Target="/docProps/app.xml" Id="Ra491a75ffed44eb9" /><Relationship Type="http://schemas.openxmlformats.org/officeDocument/2006/relationships/officeDocument" Target="/ppt/presentation.xml" Id="R482ddb2c3a184c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28acdef2054655"/>
  </p:sldMasterIdLst>
  <p:notesMasterIdLst>
    <p:notesMasterId xmlns:r="http://schemas.openxmlformats.org/officeDocument/2006/relationships" r:id="Rf1ea3e7bd9904560"/>
  </p:notesMasterIdLst>
  <p:sldIdLst>
    <p:sldId xmlns:r="http://schemas.openxmlformats.org/officeDocument/2006/relationships" id="256" r:id="R37fdd34b035348a9"/>
    <p:sldId xmlns:r="http://schemas.openxmlformats.org/officeDocument/2006/relationships" id="257" r:id="Rec6d9543c8c548a8"/>
    <p:sldId xmlns:r="http://schemas.openxmlformats.org/officeDocument/2006/relationships" id="258" r:id="Rb7769326e74e467e"/>
    <p:sldId xmlns:r="http://schemas.openxmlformats.org/officeDocument/2006/relationships" id="259" r:id="Re2efa25f946e4904"/>
    <p:sldId xmlns:r="http://schemas.openxmlformats.org/officeDocument/2006/relationships" id="260" r:id="Rb8d2744b0b34426a"/>
    <p:sldId xmlns:r="http://schemas.openxmlformats.org/officeDocument/2006/relationships" id="261" r:id="R73e432e9aeaa41ee"/>
    <p:sldId xmlns:r="http://schemas.openxmlformats.org/officeDocument/2006/relationships" id="262" r:id="R147fee3269724d26"/>
    <p:sldId xmlns:r="http://schemas.openxmlformats.org/officeDocument/2006/relationships" id="263" r:id="Raebcbde5217b4263"/>
    <p:sldId xmlns:r="http://schemas.openxmlformats.org/officeDocument/2006/relationships" id="264" r:id="R545973f1e69a4d93"/>
    <p:sldId xmlns:r="http://schemas.openxmlformats.org/officeDocument/2006/relationships" id="265" r:id="R32b5cf7baf4d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9e0368eb02491b" /><Relationship Type="http://schemas.openxmlformats.org/officeDocument/2006/relationships/slideMaster" Target="/ppt/slideMasters/slideMaster1.xml" Id="R5428acdef2054655" /><Relationship Type="http://schemas.openxmlformats.org/officeDocument/2006/relationships/notesMaster" Target="/ppt/notesMasters/notesMaster1.xml" Id="Rf1ea3e7bd9904560" /><Relationship Type="http://schemas.openxmlformats.org/officeDocument/2006/relationships/presProps" Target="/ppt/presProps.xml" Id="R3f694a6c17604504" /><Relationship Type="http://schemas.openxmlformats.org/officeDocument/2006/relationships/viewProps" Target="/ppt/viewProps.xml" Id="R8373ac410dd44aaa" /><Relationship Type="http://schemas.openxmlformats.org/officeDocument/2006/relationships/tableStyles" Target="/ppt/tableStyles.xml" Id="R4e10c87702554d0f" /><Relationship Type="http://schemas.openxmlformats.org/officeDocument/2006/relationships/slide" Target="/ppt/slides/slide1.xml" Id="R37fdd34b035348a9" /><Relationship Type="http://schemas.openxmlformats.org/officeDocument/2006/relationships/slide" Target="/ppt/slides/slide2.xml" Id="Rec6d9543c8c548a8" /><Relationship Type="http://schemas.openxmlformats.org/officeDocument/2006/relationships/slide" Target="/ppt/slides/slide3.xml" Id="Rb7769326e74e467e" /><Relationship Type="http://schemas.openxmlformats.org/officeDocument/2006/relationships/slide" Target="/ppt/slides/slide4.xml" Id="Re2efa25f946e4904" /><Relationship Type="http://schemas.openxmlformats.org/officeDocument/2006/relationships/slide" Target="/ppt/slides/slide5.xml" Id="Rb8d2744b0b34426a" /><Relationship Type="http://schemas.openxmlformats.org/officeDocument/2006/relationships/slide" Target="/ppt/slides/slide6.xml" Id="R73e432e9aeaa41ee" /><Relationship Type="http://schemas.openxmlformats.org/officeDocument/2006/relationships/slide" Target="/ppt/slides/slide7.xml" Id="R147fee3269724d26" /><Relationship Type="http://schemas.openxmlformats.org/officeDocument/2006/relationships/slide" Target="/ppt/slides/slide8.xml" Id="Raebcbde5217b4263" /><Relationship Type="http://schemas.openxmlformats.org/officeDocument/2006/relationships/slide" Target="/ppt/slides/slide9.xml" Id="R545973f1e69a4d93" /><Relationship Type="http://schemas.openxmlformats.org/officeDocument/2006/relationships/slide" Target="/ppt/slides/slide10.xml" Id="R32b5cf7baf4d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977d57e4dbd46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e6e0ca19db4d67" /><Relationship Type="http://schemas.openxmlformats.org/officeDocument/2006/relationships/notesMaster" Target="/ppt/notesMasters/notesMaster1.xml" Id="Rafca28a5599b44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08043013624d18" /><Relationship Type="http://schemas.openxmlformats.org/officeDocument/2006/relationships/notesMaster" Target="/ppt/notesMasters/notesMaster1.xml" Id="R2a052c23a77f4d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f93e5840a4d14" /><Relationship Type="http://schemas.openxmlformats.org/officeDocument/2006/relationships/notesMaster" Target="/ppt/notesMasters/notesMaster1.xml" Id="R2456b50292eb49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7b18540ed74fa1" /><Relationship Type="http://schemas.openxmlformats.org/officeDocument/2006/relationships/notesMaster" Target="/ppt/notesMasters/notesMaster1.xml" Id="R6ad5016372944bc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eff8b7b65947eb" /><Relationship Type="http://schemas.openxmlformats.org/officeDocument/2006/relationships/notesMaster" Target="/ppt/notesMasters/notesMaster1.xml" Id="R786f227c470742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0278b39a8c46c3" /><Relationship Type="http://schemas.openxmlformats.org/officeDocument/2006/relationships/notesMaster" Target="/ppt/notesMasters/notesMaster1.xml" Id="R06004040255641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a34d7f582e4bd5" /><Relationship Type="http://schemas.openxmlformats.org/officeDocument/2006/relationships/notesMaster" Target="/ppt/notesMasters/notesMaster1.xml" Id="R95645cc7e04c42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b1379f1fd44012" /><Relationship Type="http://schemas.openxmlformats.org/officeDocument/2006/relationships/notesMaster" Target="/ppt/notesMasters/notesMaster1.xml" Id="Re86f874e0fc94c3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e24844dc284d85" /><Relationship Type="http://schemas.openxmlformats.org/officeDocument/2006/relationships/notesMaster" Target="/ppt/notesMasters/notesMaster1.xml" Id="R84f3eaf16fd344e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38a892f2ad14ca4" /><Relationship Type="http://schemas.openxmlformats.org/officeDocument/2006/relationships/notesMaster" Target="/ppt/notesMasters/notesMaster1.xml" Id="R137a2989f2e6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목적: VOC_Improve에서 생성한 QA 결과를 S3에 안전하게 저장하고 감사 후 삭제하는 과정을 설명합니다.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AWS S3: https://docs.aws.amazon.com/AmazonS3/latest/userguide/Welcome.html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핵심은 root가 아니라 IAM 사용자, 비공개 저장, 감사 후 삭제입니다.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IAM MFA: https://docs.aws.amazon.com/IAM/latest/UserGuide/gs-identities-mfa.html</a:t>
            </a:r>
          </a:p>
          <a:p xmlns:a="http://schemas.openxmlformats.org/drawingml/2006/main">
            <a:r>
              <a:t>- S3 Block Public Access: https://docs.aws.amazon.com/AmazonS3/latest/userguide/access-control-block-public-access.html</a:t>
            </a:r>
          </a:p>
          <a:p xmlns:a="http://schemas.openxmlformats.org/drawingml/2006/main">
            <a:r>
              <a:t>- CloudTrail Event history: https://docs.aws.amazon.com/awscloudtrail/latest/userguide/view-cloudtrail-events.html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로컬 검증 결과만 AWS에 올리며 애플리케이션 자체를 배포하지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CloudShell 파일 업로드: https://docs.aws.amazon.com/cloudshell/latest/userguide/multiple-files-upload-download.html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테스트 결과는 사람이 읽는 보고서와 자동화 도구가 읽는 결과를 함께 준비합니다.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quality_diagnosis/reports/pytest_result.txt</a:t>
            </a:r>
          </a:p>
          <a:p xmlns:a="http://schemas.openxmlformats.org/drawingml/2006/main">
            <a:r>
              <a:t>- 내부: quality_diagnosis/reports/quality_score_report.md</a:t>
            </a:r>
          </a:p>
          <a:p xmlns:a="http://schemas.openxmlformats.org/drawingml/2006/main">
            <a:r>
              <a:t>- 내부: quality_diagnosis/reports/deployment_decision.md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실제 수행 순서와 확인 체크리스트입니다.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CLI create-bucket: https://docs.aws.amazon.com/cli/latest/reference/s3api/create-bucket.html</a:t>
            </a:r>
          </a:p>
          <a:p xmlns:a="http://schemas.openxmlformats.org/drawingml/2006/main">
            <a:r>
              <a:t>- S3 Block Public Access: https://docs.aws.amazon.com/AmazonS3/latest/userguide/access-control-block-public-access.html</a:t>
            </a:r>
          </a:p>
          <a:p xmlns:a="http://schemas.openxmlformats.org/drawingml/2006/main">
            <a:r>
              <a:t>- S3 default encryption: https://docs.aws.amazon.com/AmazonS3/latest/userguide/default-bucket-encryption.html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각 명령은 출력값을 캡처해 발표 증적으로 연결합니다. 계정 ID와 키는 노출하지 않습니다.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CLI S3API: https://docs.aws.amazon.com/cli/latest/reference/s3api/</a:t>
            </a:r>
          </a:p>
          <a:p xmlns:a="http://schemas.openxmlformats.org/drawingml/2006/main">
            <a:r>
              <a:t>- AWS CLI S3 sync: https://docs.aws.amazon.com/cli/latest/reference/s3/sync.html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왼쪽 네 항목은 기존 프로젝트 실측이고 오른쪽 네 항목은 AWS 확인 기준입니다.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CloudTrail 90-day Event history: https://docs.aws.amazon.com/awscloudtrail/latest/userguide/view-cloudtrail-events.html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업로드만으로 완료가 아니라 조회, 감사, 삭제 확인까지 모두 충족해야 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CloudShell: https://docs.aws.amazon.com/cloudshell/latest/userguide/welcome.html</a:t>
            </a:r>
          </a:p>
          <a:p xmlns:a="http://schemas.openxmlformats.org/drawingml/2006/main">
            <a:r>
              <a:t>- CloudTrail Event history: https://docs.aws.amazon.com/awscloudtrail/latest/userguide/view-cloudtrail-events.html</a:t>
            </a:r>
          </a:p>
          <a:p xmlns:a="http://schemas.openxmlformats.org/drawingml/2006/main">
            <a:r>
              <a:t>- AWS CLI delete-bucket: https://docs.aws.amazon.com/cli/latest/reference/s3api/delete-bucket.html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위험과 통제 수단을 한 쌍으로 설명하고 마지막에는 잔여 리소스 0을 확인합니다.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IAM security best practices: https://docs.aws.amazon.com/IAM/latest/UserGuide/best-practices.html</a:t>
            </a:r>
          </a:p>
          <a:p xmlns:a="http://schemas.openxmlformats.org/drawingml/2006/main">
            <a:r>
              <a:t>- S3 security best practices: https://docs.aws.amazon.com/AmazonS3/latest/userguide/security-best-practices.html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결론은 QA 증적을 안전하게 저장하고, 누가 무엇을 했는지 확인한 뒤, 모든 리소스를 삭제하는 것입니다.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내부: docs/개발진행_발표원장.md</a:t>
            </a:r>
          </a:p>
          <a:p xmlns:a="http://schemas.openxmlformats.org/drawingml/2006/main">
            <a:r>
              <a:t>- AWS CloudTrail: https://docs.aws.amazon.com/awscloudtrail/latest/userguide/cloudtrail-user-guide.html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f7e3f0083421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0c59c6a67144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0b2006789a499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fc0eb7c63946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2eb2f73a0f48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9d3b8b77b41e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ff796da94e452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4bc60f70d847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018f9001f04d0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ba5d00707420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3ce3d5bb5474e" /></Relationships>
</file>

<file path=ppt/slideLayouts/slideLayout1.xml><?xml version="1.0" encoding="utf-8"?>
<p:sldLayout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A454593-62C9-4ABB-BDD2-D710F32C7226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부제목 2">
            <a:extLst xmlns:a="http://schemas.openxmlformats.org/drawingml/2006/main">
              <a:ext uri="{FF2B5EF4-FFF2-40B4-BE49-F238E27FC236}">
                <a16:creationId xmlns:a16="http://schemas.microsoft.com/office/drawing/2014/main" id="{DE916C05-7420-493A-A9FC-831C3D61366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클릭하여 마스터 부제목 스타일 편집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C88DAF37-E2AD-4B5B-90B7-EB78377754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43A005B-DC9D-4E8C-866C-5EC9FC08A26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206A91D-B905-4085-9DF9-775EF4D107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50C4F76-CB28-48FB-8904-78FBA7FD77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1457DF4E-7EBB-4D88-BF4A-E5595F56918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5FF1FD96-26AD-4200-B2EC-26D3F5790B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5F92DA6-37F6-42E3-913F-F54263585C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74D8D00-59A2-4373-AB05-9D3A2790D4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BD89D36-7BAD-4402-90C5-78B9D08F9C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C2584CB-8ADA-4105-8AB1-781C673399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18A7B8C5-BDD2-4824-B198-98417955F2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8643008F-C758-41B9-8EEF-6F065E1D95B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5C32A008-797D-4E07-B1B1-6827583734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FD79F685-90F6-4A3C-9FCC-442ECDC686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857A95B9-898C-47ED-AC75-B35196E21C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2781E9E-55E8-44DF-B738-71428A84732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91E6BEB2-A2FE-4007-9255-4E5C63EA37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AFE995B-D302-4BE5-854E-DC3251724F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271A9577-91FA-4096-AE65-D050BD98BBB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01F880D-62F4-4993-9365-3D39EFF4DB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7B0D156-2C52-43AC-92AD-C3A5FD3F59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내용 개체 틀 3">
            <a:extLst xmlns:a="http://schemas.openxmlformats.org/drawingml/2006/main">
              <a:ext uri="{FF2B5EF4-FFF2-40B4-BE49-F238E27FC236}">
                <a16:creationId xmlns:a16="http://schemas.microsoft.com/office/drawing/2014/main" id="{4EAB1EB7-86F4-4231-8073-84050A41947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34D0BF0D-F527-4228-963A-884A5CA2355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내용 개체 틀 5">
            <a:extLst xmlns:a="http://schemas.openxmlformats.org/drawingml/2006/main">
              <a:ext uri="{FF2B5EF4-FFF2-40B4-BE49-F238E27FC236}">
                <a16:creationId xmlns:a16="http://schemas.microsoft.com/office/drawing/2014/main" id="{88ECB851-69A8-4151-A619-E209FD9457D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7" name="날짜 개체 틀 6">
            <a:extLst xmlns:a="http://schemas.openxmlformats.org/drawingml/2006/main">
              <a:ext uri="{FF2B5EF4-FFF2-40B4-BE49-F238E27FC236}">
                <a16:creationId xmlns:a16="http://schemas.microsoft.com/office/drawing/2014/main" id="{F35E8431-301B-444F-B176-0096C6ADDB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8" name="바닥글 개체 틀 7">
            <a:extLst xmlns:a="http://schemas.openxmlformats.org/drawingml/2006/main">
              <a:ext uri="{FF2B5EF4-FFF2-40B4-BE49-F238E27FC236}">
                <a16:creationId xmlns:a16="http://schemas.microsoft.com/office/drawing/2014/main" id="{195657B8-68F6-4FA6-935F-9212708398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슬라이드 번호 개체 틀 8">
            <a:extLst xmlns:a="http://schemas.openxmlformats.org/drawingml/2006/main">
              <a:ext uri="{FF2B5EF4-FFF2-40B4-BE49-F238E27FC236}">
                <a16:creationId xmlns:a16="http://schemas.microsoft.com/office/drawing/2014/main" id="{C5CC1C83-7B23-4971-977F-D7BF08622A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982DDAEE-4B6C-4CAC-99F4-5FCDCD4F975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날짜 개체 틀 2">
            <a:extLst xmlns:a="http://schemas.openxmlformats.org/drawingml/2006/main">
              <a:ext uri="{FF2B5EF4-FFF2-40B4-BE49-F238E27FC236}">
                <a16:creationId xmlns:a16="http://schemas.microsoft.com/office/drawing/2014/main" id="{2301DF90-D292-4EF1-AF75-D51ECAEC10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4" name="바닥글 개체 틀 3">
            <a:extLst xmlns:a="http://schemas.openxmlformats.org/drawingml/2006/main">
              <a:ext uri="{FF2B5EF4-FFF2-40B4-BE49-F238E27FC236}">
                <a16:creationId xmlns:a16="http://schemas.microsoft.com/office/drawing/2014/main" id="{75A726C2-D11A-419D-A877-E6A94D5E6B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슬라이드 번호 개체 틀 4">
            <a:extLst xmlns:a="http://schemas.openxmlformats.org/drawingml/2006/main">
              <a:ext uri="{FF2B5EF4-FFF2-40B4-BE49-F238E27FC236}">
                <a16:creationId xmlns:a16="http://schemas.microsoft.com/office/drawing/2014/main" id="{DAB86369-A00E-44EC-9BF4-F4921A5A6D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354428BE-5A18-4F02-A710-AA96E3CBDE2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91C93A20-D5EB-42EB-A129-B9F125D830B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D4FF9B78-AA3C-472D-B349-0CF7426834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36651EFA-2818-4F49-9375-A178181E1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A32D4BE6-0864-40CA-8786-37268951D05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C818BCD8-FFD4-4750-9CF7-C8A88F9227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C572DDF2-8E48-4E80-B0C2-E98D628A4F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4E5AD866-28C3-48ED-8D41-8AFDCB9455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35401FF8-72AA-471D-A336-7D7A885A8A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BDDD6CA2-8B55-4135-8582-D994F9A5C2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그림 개체 틀 2">
            <a:extLst xmlns:a="http://schemas.openxmlformats.org/drawingml/2006/main">
              <a:ext uri="{FF2B5EF4-FFF2-40B4-BE49-F238E27FC236}">
                <a16:creationId xmlns:a16="http://schemas.microsoft.com/office/drawing/2014/main" id="{168B08EF-2BDC-45C0-A3BF-C5C26F0B9F85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93ACD827-9708-42A2-AE88-314D19E8782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5" name="날짜 개체 틀 4">
            <a:extLst xmlns:a="http://schemas.openxmlformats.org/drawingml/2006/main">
              <a:ext uri="{FF2B5EF4-FFF2-40B4-BE49-F238E27FC236}">
                <a16:creationId xmlns:a16="http://schemas.microsoft.com/office/drawing/2014/main" id="{7E17F8CC-E954-4BF8-96AC-6985DE9F51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6" name="바닥글 개체 틀 5">
            <a:extLst xmlns:a="http://schemas.openxmlformats.org/drawingml/2006/main">
              <a:ext uri="{FF2B5EF4-FFF2-40B4-BE49-F238E27FC236}">
                <a16:creationId xmlns:a16="http://schemas.microsoft.com/office/drawing/2014/main" id="{F70816FE-EF61-497E-81D5-C09C82894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슬라이드 번호 개체 틀 6">
            <a:extLst xmlns:a="http://schemas.openxmlformats.org/drawingml/2006/main">
              <a:ext uri="{FF2B5EF4-FFF2-40B4-BE49-F238E27FC236}">
                <a16:creationId xmlns:a16="http://schemas.microsoft.com/office/drawing/2014/main" id="{D7732BDC-A7C8-4215-8FA8-0367459A8F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AD0E6A70-BAC7-44CB-9506-1F1E54EB2F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60C2927-1043-495C-9F37-424C9C3FCE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290EBE04-1F71-4E5E-9E42-2380D096F4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2AA8DD97-0196-493B-8B38-E012945B200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2EBAECFB-EE22-4C12-91E3-9896D0B7D9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세로 제목 1">
            <a:extLst xmlns:a="http://schemas.openxmlformats.org/drawingml/2006/main">
              <a:ext uri="{FF2B5EF4-FFF2-40B4-BE49-F238E27FC236}">
                <a16:creationId xmlns:a16="http://schemas.microsoft.com/office/drawing/2014/main" id="{9BBC245C-35C8-4A05-8970-5E570C512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세로 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CE072F7-8B90-42AB-8CB1-8E7120CD4B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DC9E1598-8611-4013-82A1-0FD905FB552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5955650D-CCE2-40F3-9BE8-9DD9D74E98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8F61B1-74ED-464F-A054-0FFE93AAA5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345746d5694e21" /><Relationship Type="http://schemas.openxmlformats.org/officeDocument/2006/relationships/slideLayout" Target="/ppt/slideLayouts/slideLayout1.xml" Id="R399ca4e9154e4880" /><Relationship Type="http://schemas.openxmlformats.org/officeDocument/2006/relationships/slideLayout" Target="/ppt/slideLayouts/slideLayout2.xml" Id="R9ec0d6c006ca4779" /><Relationship Type="http://schemas.openxmlformats.org/officeDocument/2006/relationships/slideLayout" Target="/ppt/slideLayouts/slideLayout3.xml" Id="R81c2ca764cef4f66" /><Relationship Type="http://schemas.openxmlformats.org/officeDocument/2006/relationships/slideLayout" Target="/ppt/slideLayouts/slideLayout4.xml" Id="Re31b796e97e249e4" /><Relationship Type="http://schemas.openxmlformats.org/officeDocument/2006/relationships/slideLayout" Target="/ppt/slideLayouts/slideLayout5.xml" Id="Rebec38e752144c99" /><Relationship Type="http://schemas.openxmlformats.org/officeDocument/2006/relationships/slideLayout" Target="/ppt/slideLayouts/slideLayout6.xml" Id="R54d4e49e8edc4ee2" /><Relationship Type="http://schemas.openxmlformats.org/officeDocument/2006/relationships/slideLayout" Target="/ppt/slideLayouts/slideLayout7.xml" Id="R6722ef06d2104b71" /><Relationship Type="http://schemas.openxmlformats.org/officeDocument/2006/relationships/slideLayout" Target="/ppt/slideLayouts/slideLayout8.xml" Id="R1863c31fda8e43bc" /><Relationship Type="http://schemas.openxmlformats.org/officeDocument/2006/relationships/slideLayout" Target="/ppt/slideLayouts/slideLayout9.xml" Id="Rbf4e00e2d854448f" /><Relationship Type="http://schemas.openxmlformats.org/officeDocument/2006/relationships/slideLayout" Target="/ppt/slideLayouts/slideLayout10.xml" Id="R7af29dd58aae40c8" /><Relationship Type="http://schemas.openxmlformats.org/officeDocument/2006/relationships/slideLayout" Target="/ppt/slideLayouts/slideLayout11.xml" Id="R0b15f50ff72e441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894F4D8E-A4E8-4A09-8564-1E7C27F84A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25206C0-1184-4648-ADEE-A7D16459C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E906AB63-A062-4809-B5DC-17C1A9FF06F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BD642BE-115E-4A81-943C-6B035E3BC80E}" type="datetimeFigureOut">
              <a:t>2026-07-16</a:t>
            </a:fld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B40300BA-3B55-4CD2-A06D-B46192B2A7E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B0967F5E-17D4-4EB3-9847-94C9F8F290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2439A41D-5A35-4F04-8449-7072123692A8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99ca4e9154e4880"/>
    <p:sldLayoutId xmlns:r="http://schemas.openxmlformats.org/officeDocument/2006/relationships" id="2147483650" r:id="R9ec0d6c006ca4779"/>
    <p:sldLayoutId xmlns:r="http://schemas.openxmlformats.org/officeDocument/2006/relationships" id="2147483651" r:id="R81c2ca764cef4f66"/>
    <p:sldLayoutId xmlns:r="http://schemas.openxmlformats.org/officeDocument/2006/relationships" id="2147483652" r:id="Re31b796e97e249e4"/>
    <p:sldLayoutId xmlns:r="http://schemas.openxmlformats.org/officeDocument/2006/relationships" id="2147483653" r:id="Rebec38e752144c99"/>
    <p:sldLayoutId xmlns:r="http://schemas.openxmlformats.org/officeDocument/2006/relationships" id="2147483654" r:id="R54d4e49e8edc4ee2"/>
    <p:sldLayoutId xmlns:r="http://schemas.openxmlformats.org/officeDocument/2006/relationships" id="2147483655" r:id="R6722ef06d2104b71"/>
    <p:sldLayoutId xmlns:r="http://schemas.openxmlformats.org/officeDocument/2006/relationships" id="2147483656" r:id="R1863c31fda8e43bc"/>
    <p:sldLayoutId xmlns:r="http://schemas.openxmlformats.org/officeDocument/2006/relationships" id="2147483657" r:id="Rbf4e00e2d854448f"/>
    <p:sldLayoutId xmlns:r="http://schemas.openxmlformats.org/officeDocument/2006/relationships" id="2147483658" r:id="R7af29dd58aae40c8"/>
    <p:sldLayoutId xmlns:r="http://schemas.openxmlformats.org/officeDocument/2006/relationships" id="2147483659" r:id="R0b15f50ff72e441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b2923febb2c4cbb" /><Relationship Type="http://schemas.openxmlformats.org/officeDocument/2006/relationships/notesSlide" Target="/ppt/notesSlides/notesSlide1.xml" Id="R80b4bd1bb1cf4e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6ddce825efa4c38" /><Relationship Type="http://schemas.openxmlformats.org/officeDocument/2006/relationships/notesSlide" Target="/ppt/notesSlides/notesSlide2.xml" Id="R779fc6def9da42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ba95334541845ca" /><Relationship Type="http://schemas.openxmlformats.org/officeDocument/2006/relationships/notesSlide" Target="/ppt/notesSlides/notesSlide3.xml" Id="Rb2e135aa645b45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7aaf5fa6df4a2a" /><Relationship Type="http://schemas.openxmlformats.org/officeDocument/2006/relationships/notesSlide" Target="/ppt/notesSlides/notesSlide4.xml" Id="R9621ac99b11c45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60c3a1372b4ff3" /><Relationship Type="http://schemas.openxmlformats.org/officeDocument/2006/relationships/notesSlide" Target="/ppt/notesSlides/notesSlide5.xml" Id="Ra5de1828c6634c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decdcf694b64d06" /><Relationship Type="http://schemas.openxmlformats.org/officeDocument/2006/relationships/notesSlide" Target="/ppt/notesSlides/notesSlide6.xml" Id="R749e54397e2d4e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040e6dc1704316" /><Relationship Type="http://schemas.openxmlformats.org/officeDocument/2006/relationships/notesSlide" Target="/ppt/notesSlides/notesSlide7.xml" Id="R940c63df9a9440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1487c9292b5436d" /><Relationship Type="http://schemas.openxmlformats.org/officeDocument/2006/relationships/notesSlide" Target="/ppt/notesSlides/notesSlide8.xml" Id="R9adfbed7e0bc4a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33d29a410545ed" /><Relationship Type="http://schemas.openxmlformats.org/officeDocument/2006/relationships/notesSlide" Target="/ppt/notesSlides/notesSlide9.xml" Id="Redcb2c730c4d42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8f8c546813460f" /><Relationship Type="http://schemas.openxmlformats.org/officeDocument/2006/relationships/notesSlide" Target="/ppt/notesSlides/notesSlide10.xml" Id="Rf18c1d8c785349d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C8F3B9E-C170-4606-B845-B27CB685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사각형: 둥근 모서리 2">
            <a:extLst xmlns:a="http://schemas.openxmlformats.org/drawingml/2006/main">
              <a:ext uri="{FF2B5EF4-FFF2-40B4-BE49-F238E27FC236}">
                <a16:creationId xmlns:a16="http://schemas.microsoft.com/office/drawing/2014/main" id="{93EA3D92-16ED-42B9-AC79-07F31CCE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84200"/>
            <a:ext cx="1549400" cy="355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4727493-CB06-4F55-ADA3-ED3235AC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0400"/>
            <a:ext cx="13335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AWS QA OPERATIONS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AC7C2D0-7CDE-4ABD-925B-6A1EA638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422400"/>
            <a:ext cx="8255000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VOC_Improve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7B89D8F-1792-4184-928B-2378D38AB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209800"/>
            <a:ext cx="9906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AWS 기반 QA 결과관리 및 운영감사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057844-5DD2-4266-96B0-F52FD6C6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5300"/>
            <a:ext cx="97790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D2E1F0"/>
                </a:solidFill>
                <a:latin typeface="맑은 고딕"/>
                <a:ea typeface="맑은 고딕"/>
                <a:cs typeface="맑은 고딕"/>
              </a:rPr>
              <a:t>로컬 검증 → S3 안전 저장 → CloudShell 조회 → CloudTrail 감사 → 전체 삭제</a:t>
            </a:r>
          </a:p>
        </p:txBody>
      </p:sp>
      <p:sp>
        <p:nvSpPr>
          <p:cNvPr id="8" name="사각형: 둥근 모서리 7">
            <a:extLst xmlns:a="http://schemas.openxmlformats.org/drawingml/2006/main">
              <a:ext uri="{FF2B5EF4-FFF2-40B4-BE49-F238E27FC236}">
                <a16:creationId xmlns:a16="http://schemas.microsoft.com/office/drawing/2014/main" id="{1E7C88F5-D056-4998-9C7B-542CEFDB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직사각형 8">
            <a:extLst xmlns:a="http://schemas.openxmlformats.org/drawingml/2006/main">
              <a:ext uri="{FF2B5EF4-FFF2-40B4-BE49-F238E27FC236}">
                <a16:creationId xmlns:a16="http://schemas.microsoft.com/office/drawing/2014/main" id="{2F772BFA-EF18-4699-AA39-05A88643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1CD9154-4B97-4B8E-87D4-A4982591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10단계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2357DBB-8E51-4F33-8D8F-58F60207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실습 범위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A89424C9-117C-4829-A0DB-0221B9B7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직사각형 12">
            <a:extLst xmlns:a="http://schemas.openxmlformats.org/drawingml/2006/main">
              <a:ext uri="{FF2B5EF4-FFF2-40B4-BE49-F238E27FC236}">
                <a16:creationId xmlns:a16="http://schemas.microsoft.com/office/drawing/2014/main" id="{D2E56750-6EBD-4DC7-A76E-C3F41E59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2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3762205-8273-4152-85D2-AF98B032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S3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87AA4A-EEF4-4650-BFC0-083ECD7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QA 결과 저장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A8C3AFF0-D04C-4D64-A7A4-7A6EB98BC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94F8552F-A97B-4AAA-A23F-4D682EE5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20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7C978E4-1D1E-4D77-A662-F03A9B9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PRIVATE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2931FF2-0581-454F-A373-F61A5314E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퍼블릭 접근 차단</a:t>
            </a:r>
          </a:p>
        </p:txBody>
      </p:sp>
      <p:sp>
        <p:nvSpPr>
          <p:cNvPr id="20" name="사각형: 둥근 모서리 19">
            <a:extLst xmlns:a="http://schemas.openxmlformats.org/drawingml/2006/main">
              <a:ext uri="{FF2B5EF4-FFF2-40B4-BE49-F238E27FC236}">
                <a16:creationId xmlns:a16="http://schemas.microsoft.com/office/drawing/2014/main" id="{41E86E7A-F48F-4A76-B821-00464557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4140200"/>
            <a:ext cx="2413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직사각형 20">
            <a:extLst xmlns:a="http://schemas.openxmlformats.org/drawingml/2006/main">
              <a:ext uri="{FF2B5EF4-FFF2-40B4-BE49-F238E27FC236}">
                <a16:creationId xmlns:a16="http://schemas.microsoft.com/office/drawing/2014/main" id="{B69DB071-4A4B-4CCB-80E6-12A94E49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4140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C9C9D16-246F-44F5-BC43-807A8101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30700"/>
            <a:ext cx="2032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DELETE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E0B873-7ED6-42E6-99F7-2572F53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26000"/>
            <a:ext cx="2032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종료 후 전체 삭제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6F7DA0A-A324-4BB5-81C5-4B34F1E6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0"/>
            <a:ext cx="101600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B4CAE1"/>
                </a:solidFill>
                <a:latin typeface="맑은 고딕"/>
                <a:ea typeface="맑은 고딕"/>
                <a:cs typeface="맑은 고딕"/>
              </a:rPr>
              <a:t>2026. 07. 29 · VOC_Improve 팀</a:t>
            </a:r>
          </a:p>
        </p:txBody>
      </p:sp>
    </p:spTree>
    <p:extLst>
      <p:ext uri="{BB962C8B-B14F-4D97-AF65-F5344CB8AC3E}">
        <p14:creationId xmlns:p14="http://schemas.microsoft.com/office/powerpoint/2010/main" val="63758415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62D6189D-4612-46C1-8501-7C049A1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C772109-7ED0-4F56-B2E9-6CF4CE21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01 · OBJECTIVE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B50B4A0-5B0C-43BB-8D38-7D9D9565D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QA 결과는 저장·검증·감사·삭제까지 관리합니다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943202D-4120-43CE-BA5B-AC3328B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48F04F1A-A3B1-4BF8-BFB9-1E91148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88F76E2-866F-47E2-85A9-4FBAF8EC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B41C144-1B25-4B67-8864-EAE7180C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최소 권한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268F2FB-DB85-4046-8FF9-9EC7CCCE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root 대신 IAM 사용자와
MFA로 로그인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5DEB6F6-7EC5-4ED9-881A-7BB53C18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009657A9-0D78-443F-8810-4A8D34D80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C874C43-59C6-4491-A3D7-C675ECC9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EF38495-BA39-4818-B81D-A98329B9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비공개 저장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91CB05A-D272-473E-9FE6-451F0DDE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퍼블릭 접근을 차단하고
SSE-S3 암호화</a:t>
            </a: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47B466E7-5FE8-4FCB-BEDF-34206B33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AC8CE521-E211-40E2-BA57-CB03625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841500"/>
            <a:ext cx="3352800" cy="3022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E1CCADC-2255-49D2-AEB0-1F2020BF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604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69E8755-D186-4009-8B22-5A5FDF64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79700"/>
            <a:ext cx="2794000" cy="3231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1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감사 후 삭제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CE3BEDC-E065-452C-84D6-23F783B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90900"/>
            <a:ext cx="2794000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CloudTrail로 확인하고
모든 리소스 삭제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5171C736-B6C2-4DC2-8AED-F07DBB94B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470400"/>
            <a:ext cx="914400" cy="6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46926DE-3B8F-44E3-BF83-9F372B14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108712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핵심 원칙  |  키·계정 ID는 가리고, 실제 명령 결과만 증적으로 남김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EF874DF-8480-487C-B6ED-CE524009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79F7E2D6-00B3-4BE9-B64E-AF69EACD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15445953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AB3C7A0D-9CBF-41B5-94BD-555C634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B1F81E5-DCE4-4C16-908E-A4EB825D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02 · WORKFLOW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5E6F9CF-13CC-497D-BC28-07E1A4E0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로컬 QA 결과를 AWS에서 안전하게 보관하고 감사합니다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61C15C9-1C50-4950-86A0-F89DF2E7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F0090FB0-BFB6-462B-85C4-F8004DD1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FD9A3DA-463F-406D-893D-C70E88C5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EA3672-9BB7-4D05-9AA9-FBF06BBC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844800"/>
            <a:ext cx="1574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로컬 VOC 실행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F021144-31F5-4915-B22D-7DD99AB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6-Agent · Web 8000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5057C19-040F-4F64-92B8-AC2B79C3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7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80140D64-48A8-42AF-B2A0-AAF671FA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FA904BF-65F3-479C-B140-BD5C55C4F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DFDCE64-2ABB-497A-9A5B-BBAC39372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2844800"/>
            <a:ext cx="1574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 실행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7B51BA1-3A17-4010-ADEE-60BECE6B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45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TXT · XML · HTML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AE8C3EF-D720-4C53-A6D9-40CC7196D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2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C95B4B52-5D1B-4851-B318-D04B9C15F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0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599C383-ADD2-4CE9-9063-C948EFE2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BD2E81-00C7-4ACF-9D2B-6855EF30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44800"/>
            <a:ext cx="1574800" cy="518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CloudShell 준비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87069C5F-1DEF-4A9E-90D4-01A7B50D6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ZIP 업로드 · unzip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3D9E0AE-EEFC-4788-82EB-743894D2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242B6135-EF62-47BF-9A2B-61198DB5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03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BF6F2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C338F3DF-87B2-4A2A-9005-AE7F2E8F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6595AF9-69C8-4E7A-A7E9-B3B9E426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2844800"/>
            <a:ext cx="15748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Amazon S3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0B159D9-EA87-4CEF-ABA8-37DE9679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Private · AES256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D2B80D3-F70C-41B5-A885-3CABAFA5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4200" y="2806700"/>
            <a:ext cx="355600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9D3066FB-1CE8-42CC-B7BD-B12A4CD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159000"/>
            <a:ext cx="1981200" cy="1905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A007630-BBC1-4575-8E1A-C25FE57D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362200"/>
            <a:ext cx="4064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B5AC014-6281-4259-8FA8-AF25525D2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2844800"/>
            <a:ext cx="15748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감사·삭제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2D4A48C9-0E4F-4C0C-BD66-59A39AF7E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000" y="3479800"/>
            <a:ext cx="1574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CloudTrail · Cleanup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45B03A1D-F93A-4519-87DC-9DAA6C1B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3400" y="4635500"/>
            <a:ext cx="8585200" cy="78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>
            <a:solidFill>
              <a:srgbClr val="B5D3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7C86B4B1-C331-46F7-BAC8-ACEA2F706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00" y="4889500"/>
            <a:ext cx="80264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앱 배포가 아니라 QA 증적의 안전한 보관과 운영감사 실습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FF3237B9-F76F-451B-92C0-C052A4A5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1253B404-A6C5-4285-861A-32C4D9B4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37880769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27C9DD0C-9072-434E-8610-A6535E9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DCDAC77-D67D-49A0-8F63-C3714B21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03 · TEST EVIDENCE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EF008E4-8415-4BB1-83AB-C70D7636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 결과를 6개 표준 증적으로 정리합니다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69E51AC-A578-4D98-AEA5-593C5EF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14A7878B-FA91-4FF9-8D47-35571DF4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F51A3D69-7157-457C-9913-578C0C1B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43EAD5-353E-4980-9E97-2865F8A38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1A6574A-CA46-44FE-B922-55DB36AE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pytest_result.txt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6368A7-EF0F-4677-8D90-EF72125FA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콘솔 실행 결과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2ABD50F6-C622-4D63-A094-7E517AD1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A5EE03E6-4877-43D3-A7CB-D96A158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8C5FA74-2107-4E27-B988-ECE0D3E6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7AF305C9-A545-4246-99A5-4D550ACC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junit_result.xml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2276E16-5947-434A-86A5-E7BA8859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CI 호환 결과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EF2FC371-B18F-479B-97CE-97AA76B6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34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직사각형 16">
            <a:extLst xmlns:a="http://schemas.openxmlformats.org/drawingml/2006/main">
              <a:ext uri="{FF2B5EF4-FFF2-40B4-BE49-F238E27FC236}">
                <a16:creationId xmlns:a16="http://schemas.microsoft.com/office/drawing/2014/main" id="{4D379FC2-4010-449C-B443-EDBBB5AFD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8034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84DA527-B931-411B-BFB1-EE861DAB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114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22B9225-A45F-4462-8887-AEA47A35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0828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pytest_report.html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B3989AF-B0BC-47D3-9701-8C6CB2A2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654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시각화된 테스트 보고서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6F81480E-F186-4FB9-A33E-51805A45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38AABFF8-DB58-42B2-AE94-DDA9E725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EDF6AF0-3EA0-49C1-8620-47E0894B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6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644F372-21A5-4F91-A3DD-E7B2EF80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llm_judge_result.csv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DE44538-C867-498D-8924-C348C99C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6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독립 Judge 평가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E2DBCFA-09C8-4100-9423-FC7EE91B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F46A1014-8EAB-4201-975E-AE371A3EB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E73FF6-D106-49C4-B914-ECA66127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0D4C4E8-291A-4950-8139-51318452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quality_score_report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1F76B38-3343-4F96-8F68-75DD2512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0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.md · 품질 점수 요약</a:t>
            </a:r>
          </a:p>
        </p:txBody>
      </p:sp>
      <p:sp>
        <p:nvSpPr>
          <p:cNvPr id="31" name="사각형: 둥근 모서리 30">
            <a:extLst xmlns:a="http://schemas.openxmlformats.org/drawingml/2006/main">
              <a:ext uri="{FF2B5EF4-FFF2-40B4-BE49-F238E27FC236}">
                <a16:creationId xmlns:a16="http://schemas.microsoft.com/office/drawing/2014/main" id="{6C209A19-296F-4A2B-B8E6-FCDCC5F4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06800"/>
            <a:ext cx="3352800" cy="142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881DEC30-31A9-4DA0-AEFC-B7A286E9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606800"/>
            <a:ext cx="660400" cy="142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93151E1-DEA3-4569-B0BD-E4C306975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14800"/>
            <a:ext cx="4064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AD24E3EF-9F90-45BC-AEF7-0C95EAB19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886200"/>
            <a:ext cx="2260600" cy="2616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deployment_decision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C205587-7895-4316-AE66-FB41EB801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368800"/>
            <a:ext cx="22606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.md · 최종 배포 판단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3F102D8B-8635-483B-8B26-DD923B5B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10769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제출 증적: 테스트 6종 + 최종 발표자료 PPTX를 S3에 업로드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5E81555-8314-4A2A-9C59-55023826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7037F00-6D71-4ACE-8D89-DB67B10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35901750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FB716C77-A59D-4A07-B174-EEB5469C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6CE62C8-A24E-4362-B60A-94805E96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04 · S3 CHECKLIST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6F00564-E9CC-4539-BECB-3FA296739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생성부터 삭제까지 10개 확인 항목으로 진행합니다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8490639-BB6B-4134-9695-9A75DEB1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CA67129F-E048-4710-93B7-E971790FA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F673302-F59B-4F38-B5B7-7FA4E696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9431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3235995-9CDB-4DA7-B344-D40A4C96C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19177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IAM 로그인  |  root 사용 금지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4853C9FE-B6BE-4825-88A9-77C5A353D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17780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CC334D8-9D42-4579-9EBA-44F12B0B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431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DCE718C-794D-4201-95BB-B5AD919F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177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퍼블릭 차단  |  4개 항목 true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CE80D9F7-43AE-4206-88D4-2641116E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54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8704304-261C-40BC-B943-5F6D9FD1B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305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9AC6695-0F76-4890-A228-D4368643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27051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버킷 이름  |  전역 고유 이름</a:t>
            </a:r>
          </a:p>
        </p:txBody>
      </p:sp>
      <p:sp>
        <p:nvSpPr>
          <p:cNvPr id="15" name="사각형: 둥근 모서리 14">
            <a:extLst xmlns:a="http://schemas.openxmlformats.org/drawingml/2006/main">
              <a:ext uri="{FF2B5EF4-FFF2-40B4-BE49-F238E27FC236}">
                <a16:creationId xmlns:a16="http://schemas.microsoft.com/office/drawing/2014/main" id="{44995AAA-2549-4AEE-9F47-9871ED22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5654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E503E04-5770-4A72-B4E8-D4127F2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305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1BE9B7A-2A13-4228-9745-BF601564B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051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기본 암호화  |  AES256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DA7F993D-5474-4B78-A19C-089D68F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0E97394-BE18-43EF-AD0B-FEC2D7B1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5179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494A6A6-BA19-4347-8F06-AC9FA8B2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34925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create-bucket  |  ap-northeast-2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AFAB3950-AD8E-4A9D-9D17-ED8D8D39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33528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4D0BE98-CBB9-40F8-9AAA-250B1067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179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955EC29-F644-43AA-8A22-FCF84975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925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CloudShell ls  |  파일 목록 확인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687543C3-7B4C-4B38-B3C7-37C87B69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02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8C6F7EA-F65D-43BA-B69D-C0BAD787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43053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FE08523-C554-4E45-BF4F-3EB695EB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42799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sync upload  |  final/ prefix</a:t>
            </a:r>
          </a:p>
        </p:txBody>
      </p:sp>
      <p:sp>
        <p:nvSpPr>
          <p:cNvPr id="27" name="사각형: 둥근 모서리 26">
            <a:extLst xmlns:a="http://schemas.openxmlformats.org/drawingml/2006/main">
              <a:ext uri="{FF2B5EF4-FFF2-40B4-BE49-F238E27FC236}">
                <a16:creationId xmlns:a16="http://schemas.microsoft.com/office/drawing/2014/main" id="{E8E243A2-F3C8-43BC-8B40-29C808CA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1402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17D594F-9C4D-4767-BF7A-6DD405F9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053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91BE08B-EF44-4691-BCAE-1C9922A1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799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CloudTrail  |  S3 관리 이벤트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7F64EECE-6FF5-4618-88DE-FF88671A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76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282B289-661E-49D7-A16D-7C0D6465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0927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05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5DA87D2-89F7-4D4C-94E9-C04D8FD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800" y="50673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head-object  |  크기·암호화</a:t>
            </a:r>
          </a:p>
        </p:txBody>
      </p:sp>
      <p:sp>
        <p:nvSpPr>
          <p:cNvPr id="33" name="사각형: 둥근 모서리 32">
            <a:extLst xmlns:a="http://schemas.openxmlformats.org/drawingml/2006/main">
              <a:ext uri="{FF2B5EF4-FFF2-40B4-BE49-F238E27FC236}">
                <a16:creationId xmlns:a16="http://schemas.microsoft.com/office/drawing/2014/main" id="{7174BC63-A10C-4691-BAFF-0CE40B73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927600"/>
            <a:ext cx="5207000" cy="584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CAB1C44-776B-4687-AE57-F5DF318B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92700"/>
            <a:ext cx="38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FB1CF91-18D6-4CA2-B968-A4848BD51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067300"/>
            <a:ext cx="42672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cleanup  |  객체·버킷 삭제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FB6FBF84-83A0-4C81-B4C7-485518C9C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9728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각 단계의 CLI 출력과 AWS 화면을 계정 정보 없이 증적으로 저장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047B9C01-59EE-482C-8C80-A0153571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EF09209-4B4C-4405-97F4-1190D0C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193175383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00BF157E-5DD7-4232-B843-C56FA41E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02C271-784B-4EC4-9E36-558EEF9B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05 · CLI VERIFICATION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3D5C3D1-A9FA-4EC8-A6AB-4B24BC30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명령·확인 값·증적을 한 줄로 연결합니다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E7FE8D5-3DC4-4668-ACA6-03A62F02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06</a:t>
            </a:r>
          </a:p>
        </p:txBody>
      </p:sp>
      <p:sp>
        <p:nvSpPr>
          <p:cNvPr id="6" name="직사각형 5">
            <a:extLst xmlns:a="http://schemas.openxmlformats.org/drawingml/2006/main">
              <a:ext uri="{FF2B5EF4-FFF2-40B4-BE49-F238E27FC236}">
                <a16:creationId xmlns:a16="http://schemas.microsoft.com/office/drawing/2014/main" id="{7480170D-2078-4D3C-8255-F159EA115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114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EEF0242-57CC-4B05-8932-63021E80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917700"/>
            <a:ext cx="939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단계</a:t>
            </a:r>
          </a:p>
        </p:txBody>
      </p:sp>
      <p:sp>
        <p:nvSpPr>
          <p:cNvPr id="8" name="직사각형 7">
            <a:extLst xmlns:a="http://schemas.openxmlformats.org/drawingml/2006/main">
              <a:ext uri="{FF2B5EF4-FFF2-40B4-BE49-F238E27FC236}">
                <a16:creationId xmlns:a16="http://schemas.microsoft.com/office/drawing/2014/main" id="{6EF8B175-CD65-4058-ACCF-8AF3F8F5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778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220BA3A-AB0E-4486-B12C-833FF6A4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1917700"/>
            <a:ext cx="1701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AWS CLI 명령</a:t>
            </a: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0E543C28-67B4-468A-9692-CBE547F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78000"/>
            <a:ext cx="190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D93D968-D5CE-432A-B72C-3A8C444C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1917700"/>
            <a:ext cx="1701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확인 값</a:t>
            </a:r>
          </a:p>
        </p:txBody>
      </p:sp>
      <p:sp>
        <p:nvSpPr>
          <p:cNvPr id="12" name="직사각형 11">
            <a:extLst xmlns:a="http://schemas.openxmlformats.org/drawingml/2006/main">
              <a:ext uri="{FF2B5EF4-FFF2-40B4-BE49-F238E27FC236}">
                <a16:creationId xmlns:a16="http://schemas.microsoft.com/office/drawing/2014/main" id="{EE07458C-57CF-4C17-9062-4C36ADA3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78000"/>
            <a:ext cx="3302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7EC4223-5579-4279-A233-FB14886E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1917700"/>
            <a:ext cx="3098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증적</a:t>
            </a:r>
          </a:p>
        </p:txBody>
      </p:sp>
      <p:sp>
        <p:nvSpPr>
          <p:cNvPr id="14" name="직사각형 13">
            <a:extLst xmlns:a="http://schemas.openxmlformats.org/drawingml/2006/main">
              <a:ext uri="{FF2B5EF4-FFF2-40B4-BE49-F238E27FC236}">
                <a16:creationId xmlns:a16="http://schemas.microsoft.com/office/drawing/2014/main" id="{C11687EF-211A-4C4E-B0DF-4595D0A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1778000"/>
            <a:ext cx="2413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5E92744-6A04-4BFD-AB8F-E4C489ED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1917700"/>
            <a:ext cx="22098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발표 포인트</a:t>
            </a:r>
          </a:p>
        </p:txBody>
      </p:sp>
      <p:sp>
        <p:nvSpPr>
          <p:cNvPr id="16" name="직사각형 15">
            <a:extLst xmlns:a="http://schemas.openxmlformats.org/drawingml/2006/main">
              <a:ext uri="{FF2B5EF4-FFF2-40B4-BE49-F238E27FC236}">
                <a16:creationId xmlns:a16="http://schemas.microsoft.com/office/drawing/2014/main" id="{DF25023F-4CF7-42AF-8AF4-7EA49E33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114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FBB1E68-BAE6-4C2E-904D-65CFF416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273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</a:t>
            </a:r>
          </a:p>
        </p:txBody>
      </p:sp>
      <p:sp>
        <p:nvSpPr>
          <p:cNvPr id="18" name="직사각형 17">
            <a:extLst xmlns:a="http://schemas.openxmlformats.org/drawingml/2006/main">
              <a:ext uri="{FF2B5EF4-FFF2-40B4-BE49-F238E27FC236}">
                <a16:creationId xmlns:a16="http://schemas.microsoft.com/office/drawing/2014/main" id="{45B2F737-8354-4B11-946E-856E83A6D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114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4DBE5EA-BA57-4913-8F18-990B2BED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25273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create-bucket</a:t>
            </a:r>
          </a:p>
        </p:txBody>
      </p:sp>
      <p:sp>
        <p:nvSpPr>
          <p:cNvPr id="20" name="직사각형 19">
            <a:extLst xmlns:a="http://schemas.openxmlformats.org/drawingml/2006/main">
              <a:ext uri="{FF2B5EF4-FFF2-40B4-BE49-F238E27FC236}">
                <a16:creationId xmlns:a16="http://schemas.microsoft.com/office/drawing/2014/main" id="{659F3E5E-6FC6-4B3A-8135-9B66480C9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114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A8FFB79-5430-4D9B-B477-62EA9153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25273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버킷 생성</a:t>
            </a:r>
          </a:p>
        </p:txBody>
      </p:sp>
      <p:sp>
        <p:nvSpPr>
          <p:cNvPr id="22" name="직사각형 21">
            <a:extLst xmlns:a="http://schemas.openxmlformats.org/drawingml/2006/main">
              <a:ext uri="{FF2B5EF4-FFF2-40B4-BE49-F238E27FC236}">
                <a16:creationId xmlns:a16="http://schemas.microsoft.com/office/drawing/2014/main" id="{E9FF97F1-6700-4B74-BC77-A866C1ED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114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7CC20E7-0BCE-426B-9EA4-344087E4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25273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CLI 출력</a:t>
            </a:r>
          </a:p>
        </p:txBody>
      </p:sp>
      <p:sp>
        <p:nvSpPr>
          <p:cNvPr id="24" name="직사각형 23">
            <a:extLst xmlns:a="http://schemas.openxmlformats.org/drawingml/2006/main">
              <a:ext uri="{FF2B5EF4-FFF2-40B4-BE49-F238E27FC236}">
                <a16:creationId xmlns:a16="http://schemas.microsoft.com/office/drawing/2014/main" id="{3E93CF6B-8A66-4ED3-9976-8813E9C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23114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C4FB958-DAF3-4B52-9D12-B4561B13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25273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리전·고유 이름</a:t>
            </a:r>
          </a:p>
        </p:txBody>
      </p:sp>
      <p:sp>
        <p:nvSpPr>
          <p:cNvPr id="26" name="직사각형 25">
            <a:extLst xmlns:a="http://schemas.openxmlformats.org/drawingml/2006/main">
              <a:ext uri="{FF2B5EF4-FFF2-40B4-BE49-F238E27FC236}">
                <a16:creationId xmlns:a16="http://schemas.microsoft.com/office/drawing/2014/main" id="{6AD8FF33-374C-4420-93F5-0ECDF0CB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26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2B155FF2-28BB-4060-A2E9-A14ACF0F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2385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B</a:t>
            </a:r>
          </a:p>
        </p:txBody>
      </p:sp>
      <p:sp>
        <p:nvSpPr>
          <p:cNvPr id="28" name="직사각형 27">
            <a:extLst xmlns:a="http://schemas.openxmlformats.org/drawingml/2006/main">
              <a:ext uri="{FF2B5EF4-FFF2-40B4-BE49-F238E27FC236}">
                <a16:creationId xmlns:a16="http://schemas.microsoft.com/office/drawing/2014/main" id="{F9035AA1-043C-4236-AE0C-E3DBDFD5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226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1B3685C-6F56-4FE5-A81B-805C83AB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2385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s3 sync</a:t>
            </a:r>
          </a:p>
        </p:txBody>
      </p:sp>
      <p:sp>
        <p:nvSpPr>
          <p:cNvPr id="30" name="직사각형 29">
            <a:extLst xmlns:a="http://schemas.openxmlformats.org/drawingml/2006/main">
              <a:ext uri="{FF2B5EF4-FFF2-40B4-BE49-F238E27FC236}">
                <a16:creationId xmlns:a16="http://schemas.microsoft.com/office/drawing/2014/main" id="{A516E140-9ED1-4E6D-BA77-0EDBFE23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226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48FACEF-020B-4132-B702-8C7756AD3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32385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파일 수·용량</a:t>
            </a:r>
          </a:p>
        </p:txBody>
      </p:sp>
      <p:sp>
        <p:nvSpPr>
          <p:cNvPr id="32" name="직사각형 31">
            <a:extLst xmlns:a="http://schemas.openxmlformats.org/drawingml/2006/main">
              <a:ext uri="{FF2B5EF4-FFF2-40B4-BE49-F238E27FC236}">
                <a16:creationId xmlns:a16="http://schemas.microsoft.com/office/drawing/2014/main" id="{E3946B0B-D186-4600-B7CF-C3D9469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226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C9205BC3-59D9-4C6C-B07C-74E788E8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2385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업로드 목록</a:t>
            </a:r>
          </a:p>
        </p:txBody>
      </p:sp>
      <p:sp>
        <p:nvSpPr>
          <p:cNvPr id="34" name="직사각형 33">
            <a:extLst xmlns:a="http://schemas.openxmlformats.org/drawingml/2006/main">
              <a:ext uri="{FF2B5EF4-FFF2-40B4-BE49-F238E27FC236}">
                <a16:creationId xmlns:a16="http://schemas.microsoft.com/office/drawing/2014/main" id="{F904CE78-3CE6-44B7-B083-69159029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0226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093A691-FF7F-463E-AD4A-2CFE7309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32385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final/ prefix</a:t>
            </a:r>
          </a:p>
        </p:txBody>
      </p:sp>
      <p:sp>
        <p:nvSpPr>
          <p:cNvPr id="36" name="직사각형 35">
            <a:extLst xmlns:a="http://schemas.openxmlformats.org/drawingml/2006/main">
              <a:ext uri="{FF2B5EF4-FFF2-40B4-BE49-F238E27FC236}">
                <a16:creationId xmlns:a16="http://schemas.microsoft.com/office/drawing/2014/main" id="{0209E644-87C0-4545-A096-C198D562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7381468-5A16-4A6C-851F-1C5264A6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9497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</a:t>
            </a:r>
          </a:p>
        </p:txBody>
      </p:sp>
      <p:sp>
        <p:nvSpPr>
          <p:cNvPr id="38" name="직사각형 37">
            <a:extLst xmlns:a="http://schemas.openxmlformats.org/drawingml/2006/main">
              <a:ext uri="{FF2B5EF4-FFF2-40B4-BE49-F238E27FC236}">
                <a16:creationId xmlns:a16="http://schemas.microsoft.com/office/drawing/2014/main" id="{BC2D8B36-EF40-4C02-853D-B983994E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7338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42F7FF2B-3113-4429-A6D9-78D5AACB2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39497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public-access-block</a:t>
            </a:r>
          </a:p>
        </p:txBody>
      </p:sp>
      <p:sp>
        <p:nvSpPr>
          <p:cNvPr id="40" name="직사각형 39">
            <a:extLst xmlns:a="http://schemas.openxmlformats.org/drawingml/2006/main">
              <a:ext uri="{FF2B5EF4-FFF2-40B4-BE49-F238E27FC236}">
                <a16:creationId xmlns:a16="http://schemas.microsoft.com/office/drawing/2014/main" id="{78917204-971A-46E4-B7F4-E6C76BF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7338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F918787-CADF-4850-8234-3608121A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39497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4개 true</a:t>
            </a:r>
          </a:p>
        </p:txBody>
      </p:sp>
      <p:sp>
        <p:nvSpPr>
          <p:cNvPr id="42" name="직사각형 41">
            <a:extLst xmlns:a="http://schemas.openxmlformats.org/drawingml/2006/main">
              <a:ext uri="{FF2B5EF4-FFF2-40B4-BE49-F238E27FC236}">
                <a16:creationId xmlns:a16="http://schemas.microsoft.com/office/drawing/2014/main" id="{F0A5CC18-E107-47E2-81E3-E73D9705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7338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C3D5123-C42E-4871-9487-76F29B33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39497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보안 출력</a:t>
            </a:r>
          </a:p>
        </p:txBody>
      </p:sp>
      <p:sp>
        <p:nvSpPr>
          <p:cNvPr id="44" name="직사각형 43">
            <a:extLst xmlns:a="http://schemas.openxmlformats.org/drawingml/2006/main">
              <a:ext uri="{FF2B5EF4-FFF2-40B4-BE49-F238E27FC236}">
                <a16:creationId xmlns:a16="http://schemas.microsoft.com/office/drawing/2014/main" id="{B91CD1CE-4856-418F-9656-FB8F3D56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37338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C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B93D150-9735-49E1-B4EC-BC62CB479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39497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퍼블릭 차단</a:t>
            </a:r>
          </a:p>
        </p:txBody>
      </p:sp>
      <p:sp>
        <p:nvSpPr>
          <p:cNvPr id="46" name="직사각형 45">
            <a:extLst xmlns:a="http://schemas.openxmlformats.org/drawingml/2006/main">
              <a:ext uri="{FF2B5EF4-FFF2-40B4-BE49-F238E27FC236}">
                <a16:creationId xmlns:a16="http://schemas.microsoft.com/office/drawing/2014/main" id="{D3914E66-0346-4EF8-B0F2-CEBCEF46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5000"/>
            <a:ext cx="114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1C92C3F7-97C8-4CE0-BB3D-C3CD1242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660900"/>
            <a:ext cx="93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D</a:t>
            </a:r>
          </a:p>
        </p:txBody>
      </p:sp>
      <p:sp>
        <p:nvSpPr>
          <p:cNvPr id="48" name="직사각형 47">
            <a:extLst xmlns:a="http://schemas.openxmlformats.org/drawingml/2006/main">
              <a:ext uri="{FF2B5EF4-FFF2-40B4-BE49-F238E27FC236}">
                <a16:creationId xmlns:a16="http://schemas.microsoft.com/office/drawing/2014/main" id="{7DE53E64-3775-485A-AF78-D9CC77F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50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206C52B-5934-4FA2-9E2D-120DC49E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4200" y="46609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bucket-encryption</a:t>
            </a:r>
          </a:p>
        </p:txBody>
      </p:sp>
      <p:sp>
        <p:nvSpPr>
          <p:cNvPr id="50" name="직사각형 49">
            <a:extLst xmlns:a="http://schemas.openxmlformats.org/drawingml/2006/main">
              <a:ext uri="{FF2B5EF4-FFF2-40B4-BE49-F238E27FC236}">
                <a16:creationId xmlns:a16="http://schemas.microsoft.com/office/drawing/2014/main" id="{74A8E163-4F3A-4218-ADBE-C13B7D5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45000"/>
            <a:ext cx="1905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686ADDDA-5305-4204-8B97-4D28E01DA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200" y="4660900"/>
            <a:ext cx="1701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AES256</a:t>
            </a:r>
          </a:p>
        </p:txBody>
      </p:sp>
      <p:sp>
        <p:nvSpPr>
          <p:cNvPr id="52" name="직사각형 51">
            <a:extLst xmlns:a="http://schemas.openxmlformats.org/drawingml/2006/main">
              <a:ext uri="{FF2B5EF4-FFF2-40B4-BE49-F238E27FC236}">
                <a16:creationId xmlns:a16="http://schemas.microsoft.com/office/drawing/2014/main" id="{8A2AC80B-E09D-4CE4-9634-5B6A99299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45000"/>
            <a:ext cx="3302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0F0E3770-BE65-4AA2-8E86-620CEA3D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4200" y="4660900"/>
            <a:ext cx="3098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암호화 출력</a:t>
            </a:r>
          </a:p>
        </p:txBody>
      </p:sp>
      <p:sp>
        <p:nvSpPr>
          <p:cNvPr id="54" name="직사각형 53">
            <a:extLst xmlns:a="http://schemas.openxmlformats.org/drawingml/2006/main">
              <a:ext uri="{FF2B5EF4-FFF2-40B4-BE49-F238E27FC236}">
                <a16:creationId xmlns:a16="http://schemas.microsoft.com/office/drawing/2014/main" id="{5FCA5F14-9568-41AA-90BC-6C202969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445000"/>
            <a:ext cx="2413000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4EE3A1FB-709F-43FD-9A75-F27B569D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6200" y="4660900"/>
            <a:ext cx="22098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SSE-S3 확인</a:t>
            </a:r>
          </a:p>
        </p:txBody>
      </p:sp>
      <p:sp>
        <p:nvSpPr>
          <p:cNvPr id="56" name="사각형: 둥근 모서리 55">
            <a:extLst xmlns:a="http://schemas.openxmlformats.org/drawingml/2006/main">
              <a:ext uri="{FF2B5EF4-FFF2-40B4-BE49-F238E27FC236}">
                <a16:creationId xmlns:a16="http://schemas.microsoft.com/office/drawing/2014/main" id="{771EEFE0-A0CA-4852-AFFF-A5E25CD8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35600"/>
            <a:ext cx="10668000" cy="609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E5C666A-FE64-45A1-BC4E-DAA5FFE1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613400"/>
            <a:ext cx="10160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발표 원칙: 계정 ID·키는 가리고, 명령과 확인 결과만 보여줍니다</a:t>
            </a: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19177974-87FD-48F2-A1D5-2C17A4B3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6EDD5C45-2D5E-424B-A507-1B7AB8D4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20792952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FAD7598-6BAD-42CF-A2FC-A8A4B1E2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3D8BF78-4D21-4536-BA50-66E29557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06 · RESULTS &amp; TARGET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C3324F-39FA-437F-96D3-74A6216C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로컬 증적은 확보했고 AWS는 이 기준으로 확인합니다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5AA48D3-851B-44C8-B9A5-59C10A43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07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C2D74857-412D-451E-A4EC-658BE417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직사각형 6">
            <a:extLst xmlns:a="http://schemas.openxmlformats.org/drawingml/2006/main">
              <a:ext uri="{FF2B5EF4-FFF2-40B4-BE49-F238E27FC236}">
                <a16:creationId xmlns:a16="http://schemas.microsoft.com/office/drawing/2014/main" id="{CBD87E5B-5243-4F11-A911-45D16197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7D10DF-E3EE-4A7C-A507-5E44DF51A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6/6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0564145-9274-428B-A071-03C52A43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로컬 Agent 준비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8BC2BC24-5000-42A9-8008-CC4370D2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1F47EBD8-688E-466F-BA6F-C938F06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6BA415C-CFED-41E4-852B-1E34F361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89/89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1DB0A26-4E01-4BB1-8D3B-1CC9235A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웹 회귀 테스트</a:t>
            </a:r>
          </a:p>
        </p:txBody>
      </p:sp>
      <p:sp>
        <p:nvSpPr>
          <p:cNvPr id="14" name="사각형: 둥근 모서리 13">
            <a:extLst xmlns:a="http://schemas.openxmlformats.org/drawingml/2006/main">
              <a:ext uri="{FF2B5EF4-FFF2-40B4-BE49-F238E27FC236}">
                <a16:creationId xmlns:a16="http://schemas.microsoft.com/office/drawing/2014/main" id="{7A16D962-C5EA-4455-B4E5-815BBE0C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직사각형 14">
            <a:extLst xmlns:a="http://schemas.openxmlformats.org/drawingml/2006/main">
              <a:ext uri="{FF2B5EF4-FFF2-40B4-BE49-F238E27FC236}">
                <a16:creationId xmlns:a16="http://schemas.microsoft.com/office/drawing/2014/main" id="{E0082130-BB31-4EB8-A439-9232D7E8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8A6CA96-636D-46F6-ACD4-16F9C8A6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30/30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141A6BF-D0EA-46F5-80E4-45669987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자동 품질 테스트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4AB7F112-6F4C-406D-918C-2F63EE444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27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직사각형 18">
            <a:extLst xmlns:a="http://schemas.openxmlformats.org/drawingml/2006/main">
              <a:ext uri="{FF2B5EF4-FFF2-40B4-BE49-F238E27FC236}">
                <a16:creationId xmlns:a16="http://schemas.microsoft.com/office/drawing/2014/main" id="{2562EE91-E45F-41E5-941A-FBA8E05B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27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4CA2C36-CCE2-488E-9DDA-26ECC797B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1917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18/18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21D15F-9947-4D0D-807C-AC8FD49C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2413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라이브 E2E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5663C0E-733D-4CEB-ADE5-D596A9511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직사각형 22">
            <a:extLst xmlns:a="http://schemas.openxmlformats.org/drawingml/2006/main">
              <a:ext uri="{FF2B5EF4-FFF2-40B4-BE49-F238E27FC236}">
                <a16:creationId xmlns:a16="http://schemas.microsoft.com/office/drawing/2014/main" id="{A033EFFA-D33C-4966-B5FF-C1189BBDE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DB296E8-9F6D-43F8-AF2F-2A82D3A8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4/4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0451EE4-16F6-471D-A5AB-07952AA9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퍼블릭 차단 기준</a:t>
            </a:r>
          </a:p>
        </p:txBody>
      </p:sp>
      <p:sp>
        <p:nvSpPr>
          <p:cNvPr id="26" name="사각형: 둥근 모서리 25">
            <a:extLst xmlns:a="http://schemas.openxmlformats.org/drawingml/2006/main">
              <a:ext uri="{FF2B5EF4-FFF2-40B4-BE49-F238E27FC236}">
                <a16:creationId xmlns:a16="http://schemas.microsoft.com/office/drawing/2014/main" id="{A347973B-DB58-4238-8877-1BDADA4A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직사각형 26">
            <a:extLst xmlns:a="http://schemas.openxmlformats.org/drawingml/2006/main">
              <a:ext uri="{FF2B5EF4-FFF2-40B4-BE49-F238E27FC236}">
                <a16:creationId xmlns:a16="http://schemas.microsoft.com/office/drawing/2014/main" id="{61467249-7464-441C-BAC4-00EEC14F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2B5DDDF-2FDB-40A1-B338-6BF3F6BE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AES256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37B22E8-5666-4C4A-B1C6-95559FCE6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S3 암호화 기준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BFD9AE25-98D9-4FEF-AA5A-C4296E48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EB451609-C8BF-45A6-861A-D75D1198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2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5AE"/>
          </a:solidFill>
          <a:ln xmlns:a="http://schemas.openxmlformats.org/drawingml/2006/main">
            <a:solidFill>
              <a:srgbClr val="1F65A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CF059B2C-A0F5-466F-AFEC-D0BB6E78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F65AE"/>
                </a:solidFill>
                <a:latin typeface="맑은 고딕"/>
                <a:ea typeface="맑은 고딕"/>
                <a:cs typeface="맑은 고딕"/>
              </a:rPr>
              <a:t>LIST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8520706-21DD-4EF7-B5D2-92C23F47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92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CloudShell 조회 기준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B10A233D-F180-4F1D-9B3D-6869874C0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2514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직사각형 34">
            <a:extLst xmlns:a="http://schemas.openxmlformats.org/drawingml/2006/main">
              <a:ext uri="{FF2B5EF4-FFF2-40B4-BE49-F238E27FC236}">
                <a16:creationId xmlns:a16="http://schemas.microsoft.com/office/drawing/2014/main" id="{CFBCE7BC-6AE6-47F0-87C2-BB0A2539F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1242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A623"/>
          </a:solidFill>
          <a:ln xmlns:a="http://schemas.openxmlformats.org/drawingml/2006/main">
            <a:solidFill>
              <a:srgbClr val="EBA62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B2C3636-8536-4941-9CCA-ECB6A8DC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314700"/>
            <a:ext cx="21336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90일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79D0D8D-EC4D-4B2F-8B71-034967FA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7000" y="3810000"/>
            <a:ext cx="21336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CloudTrail 관리 이벤트</a:t>
            </a:r>
          </a:p>
        </p:txBody>
      </p:sp>
      <p:sp>
        <p:nvSpPr>
          <p:cNvPr id="38" name="사각형: 둥근 모서리 37">
            <a:extLst xmlns:a="http://schemas.openxmlformats.org/drawingml/2006/main">
              <a:ext uri="{FF2B5EF4-FFF2-40B4-BE49-F238E27FC236}">
                <a16:creationId xmlns:a16="http://schemas.microsoft.com/office/drawing/2014/main" id="{F27A510A-1AC1-4786-9D6D-F432F673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0668000" cy="939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2FC"/>
          </a:solidFill>
          <a:ln xmlns:a="http://schemas.openxmlformats.org/drawingml/2006/main">
            <a:solidFill>
              <a:srgbClr val="B5D3E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89EED99-4FA6-4779-B10F-AB88B03AD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029200"/>
            <a:ext cx="101092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실측 완료 수치와 AWS 확인 기준을 구분해 발표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A52B1DE-E887-4B2D-83E7-BFC63D99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410200"/>
            <a:ext cx="101092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로컬 기준: 2026-07-16 최신 프로젝트 증적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DFA6B1C-32FF-489B-89D3-C6CF561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0FB1562-72FE-44DE-B199-D663D82A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6508176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C4D728EF-731A-4247-9A01-6C138727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A59C69-9E69-4CCF-BC69-A9F57E0D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07 · AUDIT GATE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E85D2D5-F65D-4322-8B2E-E026A899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CloudShell·CloudTrail·삭제까지 확인해야 완료입니다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FF8C0F7-B035-4662-8FAD-B300A5DB4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08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24A02281-03B3-428A-908A-C16F661F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80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689CF-475F-417B-A077-905D0C58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19812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CloudShell 조회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66F1B8-24FB-4353-BABC-ADFB7827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1981200"/>
            <a:ext cx="1270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aws s3 ls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398EDFD-8A43-4BFA-8A05-8DE10FF3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12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파일 목록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460462-A4AF-440A-AAAF-AE2B9BE6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19812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11" name="사각형: 둥근 모서리 10">
            <a:extLst xmlns:a="http://schemas.openxmlformats.org/drawingml/2006/main">
              <a:ext uri="{FF2B5EF4-FFF2-40B4-BE49-F238E27FC236}">
                <a16:creationId xmlns:a16="http://schemas.microsoft.com/office/drawing/2014/main" id="{934BD90E-CC2A-4271-9952-B26DD74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24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48D076E-1646-4CA9-8FE9-EB59097F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28956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CloudTrail 감사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19671B-3788-470A-97DC-29026AD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2895600"/>
            <a:ext cx="1270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CreateBucket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5C52E88-6B38-4512-975B-84503497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사용자·시간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D7605F7-705C-4429-B420-50CC9DFA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28956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B8D553FC-9AA6-4B2F-970C-57E9E6BC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6800"/>
            <a:ext cx="7493000" cy="711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B9E7F8F-9BF2-436B-8097-E06A171FA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3810000"/>
            <a:ext cx="2159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S3 전체 삭제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9B28146-3250-4B29-905F-77827C1D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5000" y="3810000"/>
            <a:ext cx="1270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list-buckets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78B4F86-9B3C-402D-A046-32A60157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10000"/>
            <a:ext cx="2032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결과 없음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756203E-A1F7-4FBC-82F0-8A978D6D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800" y="3810000"/>
            <a:ext cx="8890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CHECK</a:t>
            </a:r>
          </a:p>
        </p:txBody>
      </p:sp>
      <p:sp>
        <p:nvSpPr>
          <p:cNvPr id="21" name="사각형: 둥근 모서리 20">
            <a:extLst xmlns:a="http://schemas.openxmlformats.org/drawingml/2006/main">
              <a:ext uri="{FF2B5EF4-FFF2-40B4-BE49-F238E27FC236}">
                <a16:creationId xmlns:a16="http://schemas.microsoft.com/office/drawing/2014/main" id="{9B1D9B01-D7E1-4475-8F23-77378F831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78000"/>
            <a:ext cx="2667000" cy="254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07F7173-8092-4B43-99BA-50712DFC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108200"/>
            <a:ext cx="2108200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완료 조건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27D3808-D220-479D-80F6-AA080735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2628900"/>
            <a:ext cx="210820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4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DONE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472391C-A96F-4E6B-9240-F559D6D3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3505200"/>
            <a:ext cx="21082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3개 증적 충족 시</a:t>
            </a:r>
          </a:p>
        </p:txBody>
      </p:sp>
      <p:sp>
        <p:nvSpPr>
          <p:cNvPr id="25" name="사각형: 둥근 모서리 24">
            <a:extLst xmlns:a="http://schemas.openxmlformats.org/drawingml/2006/main">
              <a:ext uri="{FF2B5EF4-FFF2-40B4-BE49-F238E27FC236}">
                <a16:creationId xmlns:a16="http://schemas.microsoft.com/office/drawing/2014/main" id="{37E5D445-5299-4E58-84AD-F61C9B34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1400"/>
            <a:ext cx="10668000" cy="965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AECEE"/>
          </a:solidFill>
          <a:ln xmlns:a="http://schemas.openxmlformats.org/drawingml/2006/main">
            <a:solidFill>
              <a:srgbClr val="E8B1B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B61D5A30-958A-422C-A112-81ABB1BB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105400"/>
            <a:ext cx="101092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업로드 조회 → 관리 이벤트 확인 → 객체 삭제 → 버킷 삭제 → 잔여 0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37244EA5-A4D5-461F-8A58-6B33856AE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7FD2EBE2-F103-4C16-8CA3-AFFF6488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208726829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B04664A6-58B1-4C2B-AB9E-B520A95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D9C9A85-18FB-4A1F-94E6-32EDF8A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08 · SECURITY &amp; CLEANUP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05E3EA5-889B-4A31-BB8D-9FC6D478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보안·감사·비용 위험은 확인 명령으로 닫습니다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C4A4C-1DA6-4E9E-937F-20DBD7D3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09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D9A11745-6810-48EB-990E-16D6ED2D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9F27AB1-1530-44B3-ACCE-E841AAE5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18796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626D318-2152-491F-903C-0E311405B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8415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root 자격 증명 사용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8222B57-FECF-473E-89D3-6D105CE2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18415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0" name="사각형: 둥근 모서리 9">
            <a:extLst xmlns:a="http://schemas.openxmlformats.org/drawingml/2006/main">
              <a:ext uri="{FF2B5EF4-FFF2-40B4-BE49-F238E27FC236}">
                <a16:creationId xmlns:a16="http://schemas.microsoft.com/office/drawing/2014/main" id="{AA117466-DBFB-4294-AFDF-BFEF52C9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764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01995A5-F354-4CA1-88DD-253F4FAF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IAM 사용자 + MFA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95660339-9A05-45B0-8644-7F328B11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400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2A27F58-BCE2-4DE0-AB7A-79A2AE43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27432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B2A7581-78F2-4C1E-A1E0-592DE3E2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27051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S3 퍼블릭 노출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DE13DC7-04E7-4508-9BAF-25356EDCD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27051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16" name="사각형: 둥근 모서리 15">
            <a:extLst xmlns:a="http://schemas.openxmlformats.org/drawingml/2006/main">
              <a:ext uri="{FF2B5EF4-FFF2-40B4-BE49-F238E27FC236}">
                <a16:creationId xmlns:a16="http://schemas.microsoft.com/office/drawing/2014/main" id="{7EDC825D-6D8F-44BB-A891-5262B475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400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8BD0AF-C6CA-482B-B95D-69A9D2DD7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051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Block Public Access</a:t>
            </a:r>
          </a:p>
        </p:txBody>
      </p:sp>
      <p:sp>
        <p:nvSpPr>
          <p:cNvPr id="18" name="사각형: 둥근 모서리 17">
            <a:extLst xmlns:a="http://schemas.openxmlformats.org/drawingml/2006/main">
              <a:ext uri="{FF2B5EF4-FFF2-40B4-BE49-F238E27FC236}">
                <a16:creationId xmlns:a16="http://schemas.microsoft.com/office/drawing/2014/main" id="{3275345B-59A7-480E-914F-AB24C162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36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677FE00-9D46-44D6-A144-8EE7657C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36068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AB162C0-D18A-454F-B012-39F6C6A9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35687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암호화 누락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680FDBF-49C8-4297-85EB-6D6102BD5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5687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2" name="사각형: 둥근 모서리 21">
            <a:extLst xmlns:a="http://schemas.openxmlformats.org/drawingml/2006/main">
              <a:ext uri="{FF2B5EF4-FFF2-40B4-BE49-F238E27FC236}">
                <a16:creationId xmlns:a16="http://schemas.microsoft.com/office/drawing/2014/main" id="{8D10C21A-D0CC-4A41-9396-4645329E4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036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B7F499E-637F-48B5-8B53-1C3FE58D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687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SSE-S3 · AES256</a:t>
            </a:r>
          </a:p>
        </p:txBody>
      </p:sp>
      <p:sp>
        <p:nvSpPr>
          <p:cNvPr id="24" name="사각형: 둥근 모서리 23">
            <a:extLst xmlns:a="http://schemas.openxmlformats.org/drawingml/2006/main">
              <a:ext uri="{FF2B5EF4-FFF2-40B4-BE49-F238E27FC236}">
                <a16:creationId xmlns:a16="http://schemas.microsoft.com/office/drawing/2014/main" id="{BCCC66A9-EDC2-4D91-AF17-DC8447F3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50038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95C7E62-003E-41D0-85AC-AE60896D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4470400"/>
            <a:ext cx="5334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 b="1">
                <a:solidFill>
                  <a:srgbClr val="CD3744"/>
                </a:solidFill>
                <a:latin typeface="맑은 고딕"/>
                <a:ea typeface="맑은 고딕"/>
                <a:cs typeface="맑은 고딕"/>
              </a:rPr>
              <a:t>위험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9725003D-2CB5-449F-BF82-9CB50B671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4432300"/>
            <a:ext cx="39624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잔여 객체·버킷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296561E-C55F-4A07-A035-4A122C9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4432300"/>
            <a:ext cx="4064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→</a:t>
            </a:r>
          </a:p>
        </p:txBody>
      </p:sp>
      <p:sp>
        <p:nvSpPr>
          <p:cNvPr id="28" name="사각형: 둥근 모서리 27">
            <a:extLst xmlns:a="http://schemas.openxmlformats.org/drawingml/2006/main">
              <a:ext uri="{FF2B5EF4-FFF2-40B4-BE49-F238E27FC236}">
                <a16:creationId xmlns:a16="http://schemas.microsoft.com/office/drawing/2014/main" id="{0E1B9DCE-BC9D-4EC9-8AAA-B1FDB362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67200"/>
            <a:ext cx="5029200" cy="660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C6DE24F-2F45-4F16-B74B-86A2F7A0F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32300"/>
            <a:ext cx="454660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3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recursive delete + delete-bucket</a:t>
            </a:r>
          </a:p>
        </p:txBody>
      </p:sp>
      <p:sp>
        <p:nvSpPr>
          <p:cNvPr id="30" name="사각형: 둥근 모서리 29">
            <a:extLst xmlns:a="http://schemas.openxmlformats.org/drawingml/2006/main">
              <a:ext uri="{FF2B5EF4-FFF2-40B4-BE49-F238E27FC236}">
                <a16:creationId xmlns:a16="http://schemas.microsoft.com/office/drawing/2014/main" id="{A4809FE7-AD6E-4773-B72E-53F583C2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33020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CCDCE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직사각형 30">
            <a:extLst xmlns:a="http://schemas.openxmlformats.org/drawingml/2006/main">
              <a:ext uri="{FF2B5EF4-FFF2-40B4-BE49-F238E27FC236}">
                <a16:creationId xmlns:a16="http://schemas.microsoft.com/office/drawing/2014/main" id="{A7B34AEF-A4BD-47EA-8F71-470106F5F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4800"/>
            <a:ext cx="76200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45C"/>
          </a:solidFill>
          <a:ln xmlns:a="http://schemas.openxmlformats.org/drawingml/2006/main">
            <a:solidFill>
              <a:srgbClr val="14845C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C1836D0-62C4-47AE-8B5C-F599DDFA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5575300"/>
            <a:ext cx="2921000" cy="3847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5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0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3F6D1F2-8F19-49F4-8664-CE1DC58B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600" y="6070600"/>
            <a:ext cx="2921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종료 후 남은 AWS 리소스 목표</a:t>
            </a:r>
          </a:p>
        </p:txBody>
      </p:sp>
      <p:sp>
        <p:nvSpPr>
          <p:cNvPr id="34" name="사각형: 둥근 모서리 33">
            <a:extLst xmlns:a="http://schemas.openxmlformats.org/drawingml/2006/main">
              <a:ext uri="{FF2B5EF4-FFF2-40B4-BE49-F238E27FC236}">
                <a16:creationId xmlns:a16="http://schemas.microsoft.com/office/drawing/2014/main" id="{7134F5A5-DD23-4E43-AA0C-75B8C6C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84800"/>
            <a:ext cx="7086600" cy="1117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6178AE4-E732-4321-BE81-CB52CDAD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575300"/>
            <a:ext cx="1524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89D3E0"/>
                </a:solidFill>
                <a:latin typeface="맑은 고딕"/>
                <a:ea typeface="맑은 고딕"/>
                <a:cs typeface="맑은 고딕"/>
              </a:rPr>
              <a:t>발표 증적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ECF04B3-A104-4D8D-90D6-FA6C26B9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5956300"/>
            <a:ext cx="64770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CLI 출력 · S3 화면 · CloudTrail 이벤트 · Budget 알림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E2BFA3E-433A-49EC-9D5B-CFAD4FC4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VOC_Improve · AWS QA Operations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611FBAF-E192-453A-A3E7-5DE9428FC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415256280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직사각형 1">
            <a:extLst xmlns:a="http://schemas.openxmlformats.org/drawingml/2006/main">
              <a:ext uri="{FF2B5EF4-FFF2-40B4-BE49-F238E27FC236}">
                <a16:creationId xmlns:a16="http://schemas.microsoft.com/office/drawing/2014/main" id="{4B8AE888-A624-4B38-A46D-ADA33CD4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>
            <a:solidFill>
              <a:srgbClr val="0F8B8D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2721C7D-787B-4106-B8AE-30011F4E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350000" cy="1692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100" b="1">
                <a:solidFill>
                  <a:srgbClr val="0F8B8D"/>
                </a:solidFill>
                <a:latin typeface="맑은 고딕"/>
                <a:ea typeface="맑은 고딕"/>
                <a:cs typeface="맑은 고딕"/>
              </a:rPr>
              <a:t>09 · CONCLUSION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057A8BD-E4D4-483F-919A-7BA4F13AE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1200"/>
            <a:ext cx="104140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C3460"/>
                </a:solidFill>
                <a:latin typeface="맑은 고딕"/>
                <a:ea typeface="맑은 고딕"/>
                <a:cs typeface="맑은 고딕"/>
              </a:rPr>
              <a:t>QA 결과의 저장·보안·감사·삭제 기준을 완성했습니다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4649E7D0-4359-4CC1-A935-9D19FD9F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600" y="482600"/>
            <a:ext cx="482600" cy="2154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400" b="1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  <p:sp>
        <p:nvSpPr>
          <p:cNvPr id="6" name="사각형: 둥근 모서리 5">
            <a:extLst xmlns:a="http://schemas.openxmlformats.org/drawingml/2006/main">
              <a:ext uri="{FF2B5EF4-FFF2-40B4-BE49-F238E27FC236}">
                <a16:creationId xmlns:a16="http://schemas.microsoft.com/office/drawing/2014/main" id="{AD41C0B6-4272-4ECC-8B32-14E2085E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27200"/>
            <a:ext cx="5080000" cy="322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8F7F1"/>
          </a:solidFill>
          <a:ln xmlns:a="http://schemas.openxmlformats.org/drawingml/2006/main">
            <a:solidFill>
              <a:srgbClr val="B8E0CF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AAB8EDB-F9E9-413C-BA6A-A38EFC71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2032000"/>
            <a:ext cx="4318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14845C"/>
                </a:solidFill>
                <a:latin typeface="맑은 고딕"/>
                <a:ea typeface="맑은 고딕"/>
                <a:cs typeface="맑은 고딕"/>
              </a:rPr>
              <a:t>발표 범위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36C00E9-191C-4A3A-A30A-AC56486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42418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✓ 로컬 VOC 정상 실행 근거
✓ pytest 표준 QA 보고서
✓ S3 비공개·암호화 확인 기준
✓ CloudTrail 감사와 삭제 절차</a:t>
            </a:r>
          </a:p>
        </p:txBody>
      </p:sp>
      <p:sp>
        <p:nvSpPr>
          <p:cNvPr id="9" name="사각형: 둥근 모서리 8">
            <a:extLst xmlns:a="http://schemas.openxmlformats.org/drawingml/2006/main">
              <a:ext uri="{FF2B5EF4-FFF2-40B4-BE49-F238E27FC236}">
                <a16:creationId xmlns:a16="http://schemas.microsoft.com/office/drawing/2014/main" id="{D58ECFC0-359E-49F9-AAEA-0A6B10B0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27200"/>
            <a:ext cx="5181600" cy="322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F4CF83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3AE3D75-7168-416E-9BAC-6EB3CDDE1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032000"/>
            <a:ext cx="43180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900" b="1">
                <a:solidFill>
                  <a:srgbClr val="EBA623"/>
                </a:solidFill>
                <a:latin typeface="맑은 고딕"/>
                <a:ea typeface="맑은 고딕"/>
                <a:cs typeface="맑은 고딕"/>
              </a:rPr>
              <a:t>완료 조건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A34EEFC-354A-4729-8D48-84A3D702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67000"/>
            <a:ext cx="4292600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142941"/>
                </a:solidFill>
                <a:latin typeface="맑은 고딕"/>
                <a:ea typeface="맑은 고딕"/>
                <a:cs typeface="맑은 고딕"/>
              </a:rPr>
              <a:t>1. IAM 사용자·Budget 화면
2. S3 업로드와 파일 조회
3. 퍼블릭 차단·암호화 확인
4. CloudTrail 확인·전체 삭제</a:t>
            </a:r>
          </a:p>
        </p:txBody>
      </p:sp>
      <p:sp>
        <p:nvSpPr>
          <p:cNvPr id="12" name="사각형: 둥근 모서리 11">
            <a:extLst xmlns:a="http://schemas.openxmlformats.org/drawingml/2006/main">
              <a:ext uri="{FF2B5EF4-FFF2-40B4-BE49-F238E27FC236}">
                <a16:creationId xmlns:a16="http://schemas.microsoft.com/office/drawing/2014/main" id="{1EA9B818-5B1D-433D-AEA7-2C664C7C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0"/>
            <a:ext cx="10668000" cy="863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C3460"/>
          </a:solidFill>
          <a:ln xmlns:a="http://schemas.openxmlformats.org/drawingml/2006/main">
            <a:solidFill>
              <a:srgbClr val="0C3460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5672AF4-43A4-4CA8-9F44-D460E58E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5588000"/>
            <a:ext cx="10109200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안전하게 저장하고, 작업을 감사한 뒤, 남김없이 삭제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1816507-5FAB-431F-B81F-CE5BE4092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02400"/>
            <a:ext cx="82550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Q&amp;A · 실제 명령과 AWS 증적 화면으로 답변드리겠습니다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3792336-4D09-43B5-B73A-E424BBE6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502400"/>
            <a:ext cx="11684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900">
                <a:solidFill>
                  <a:srgbClr val="5B6F84"/>
                </a:solidFill>
                <a:latin typeface="맑은 고딕"/>
                <a:ea typeface="맑은 고딕"/>
                <a:cs typeface="맑은 고딕"/>
              </a:rPr>
              <a:t>2026.07.29</a:t>
            </a:r>
          </a:p>
        </p:txBody>
      </p:sp>
    </p:spTree>
    <p:extLst>
      <p:ext uri="{BB962C8B-B14F-4D97-AF65-F5344CB8AC3E}">
        <p14:creationId xmlns:p14="http://schemas.microsoft.com/office/powerpoint/2010/main" val="340640248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2026-07-29T06:33:35.2500000Z</dcterms:created>
  <dcterms:modified xsi:type="dcterms:W3CDTF">2026-07-29T06:33:35.2500000Z</dcterms:modified>
</coreProperties>
</file>