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3팀의 핵심은 독립 Judge 결과, 평가점수, 배포판정입니다.</a:t>
            </a:r>
          </a:p>
          <a:p>
            <a:r>
              <a:t>[Sources]</a:t>
            </a:r>
          </a:p>
          <a:p>
            <a:r>
              <a:t>- 내부: quality_diagnosis/reports/quality_score_report.md</a:t>
            </a:r>
          </a:p>
          <a:p>
            <a:r>
              <a:t>- 내부: quality_diagnosis/reports/deployment_decision.md</a:t>
            </a:r>
          </a:p>
          <a:p>
            <a:r>
              <a:t>- 내부: utils/quality_evaluator.py</a:t>
            </a:r>
          </a:p>
          <a:p>
            <a:r>
              <a:t>- 내부: utils/deployment_policy.py</a:t>
            </a:r>
          </a:p>
          <a:p>
            <a:r>
              <a:t>- 내부: docs/개발진행_발표원장.md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생성 모델과 평가 모델을 분리하고 정량 점수를 배포 기준과 비교합니다.</a:t>
            </a:r>
          </a:p>
          <a:p>
            <a:r>
              <a:t>[Sources]</a:t>
            </a:r>
          </a:p>
          <a:p>
            <a:r>
              <a:t>- 내부: quality_diagnosis/reports/quality_score_report.md</a:t>
            </a:r>
          </a:p>
          <a:p>
            <a:r>
              <a:t>- 내부: quality_diagnosis/reports/deployment_decision.md</a:t>
            </a:r>
          </a:p>
          <a:p>
            <a:r>
              <a:t>- 내부: utils/quality_evaluator.py</a:t>
            </a:r>
          </a:p>
          <a:p>
            <a:r>
              <a:t>- 내부: utils/deployment_policy.py</a:t>
            </a:r>
          </a:p>
          <a:p>
            <a:r>
              <a:t>- 내부: docs/개발진행_발표원장.md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OpenAI 기반 6-Agent 결과를 Anthropic Judge가 독립 평가하고 AWS에 증적으로 보관합니다.</a:t>
            </a:r>
          </a:p>
          <a:p>
            <a:r>
              <a:t>[Sources]</a:t>
            </a:r>
          </a:p>
          <a:p>
            <a:r>
              <a:t>- 내부: docs/개발진행_발표원장.md</a:t>
            </a:r>
          </a:p>
          <a:p>
            <a:r>
              <a:t>- AWS S3: https://docs.aws.amazon.com/AmazonS3/latest/userguide/Welcome.html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Judge CSV, 품질점수 보고서, 배포판정 보고서가 3팀의 핵심 산출물입니다.</a:t>
            </a:r>
          </a:p>
          <a:p>
            <a:r>
              <a:t>[Sources]</a:t>
            </a:r>
          </a:p>
          <a:p>
            <a:r>
              <a:t>- 내부: quality_diagnosis/reports/quality_score_report.md</a:t>
            </a:r>
          </a:p>
          <a:p>
            <a:r>
              <a:t>- 내부: quality_diagnosis/reports/deployment_decision.md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평가항목과 배점은 프로젝트 QUALITY_RUBRIC의 실제 값을 사용했습니다.</a:t>
            </a:r>
          </a:p>
          <a:p>
            <a:r>
              <a:t>[Sources]</a:t>
            </a:r>
          </a:p>
          <a:p>
            <a:r>
              <a:t>- 내부: utils/quality_evaluator.py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라이브 E2E 90.6점, Judge 89.0점, 기준 95점, 중대 위반 0건을 비교합니다.</a:t>
            </a:r>
          </a:p>
          <a:p>
            <a:r>
              <a:t>[Sources]</a:t>
            </a:r>
          </a:p>
          <a:p>
            <a:r>
              <a:t>- 내부: quality_diagnosis/reports/quality_score_report.md</a:t>
            </a:r>
          </a:p>
          <a:p>
            <a:r>
              <a:t>- 내부: quality_diagnosis/reports/deployment_decision.md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최종 통합 점수는 낮은 증적인 Judge 89.0점이며 결과는 HOLD입니다.</a:t>
            </a:r>
          </a:p>
          <a:p>
            <a:r>
              <a:t>[Sources]</a:t>
            </a:r>
          </a:p>
          <a:p>
            <a:r>
              <a:t>- 내부: quality_diagnosis/reports/quality_score_report.md</a:t>
            </a:r>
          </a:p>
          <a:p>
            <a:r>
              <a:t>- 내부: utils/deployment_policy.py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Judge 3대 증적을 S3에 업로드하고 CloudShell·CloudTrail로 확인한 뒤 삭제합니다.</a:t>
            </a:r>
          </a:p>
          <a:p>
            <a:r>
              <a:t>[Sources]</a:t>
            </a:r>
          </a:p>
          <a:p>
            <a:r>
              <a:t>- AWS CloudShell: https://docs.aws.amazon.com/cloudshell/latest/userguide/welcome.html</a:t>
            </a:r>
          </a:p>
          <a:p>
            <a:r>
              <a:t>- AWS CloudTrail: https://docs.aws.amazon.com/awscloudtrail/latest/userguide/view-cloudtrail-events.html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S3 퍼블릭 접근 차단과 AES256 암호화, CloudTrail 감사, 전체 삭제를 확인합니다.</a:t>
            </a:r>
          </a:p>
          <a:p>
            <a:r>
              <a:t>[Sources]</a:t>
            </a:r>
          </a:p>
          <a:p>
            <a:r>
              <a:t>- S3 Block Public Access: https://docs.aws.amazon.com/AmazonS3/latest/userguide/access-control-block-public-access.html</a:t>
            </a:r>
          </a:p>
          <a:p>
            <a:r>
              <a:t>- S3 default encryption: https://docs.aws.amazon.com/AmazonS3/latest/userguide/default-bucket-encryption.html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테스트 성공과 배포 가능을 분리하고 판단 근거를 AWS 감사 증적으로 보존합니다.</a:t>
            </a:r>
          </a:p>
          <a:p>
            <a:r>
              <a:t>[Sources]</a:t>
            </a:r>
          </a:p>
          <a:p>
            <a:r>
              <a:t>- 내부: quality_diagnosis/reports/quality_score_report.md</a:t>
            </a:r>
          </a:p>
          <a:p>
            <a:r>
              <a:t>- 내부: quality_diagnosis/reports/deployment_decision.md</a:t>
            </a:r>
          </a:p>
          <a:p>
            <a:r>
              <a:t>- 내부: utils/quality_evaluator.py</a:t>
            </a:r>
          </a:p>
          <a:p>
            <a:r>
              <a:t>- 내부: utils/deployment_policy.py</a:t>
            </a:r>
          </a:p>
          <a:p>
            <a:r>
              <a:t>- 내부: docs/개발진행_발표원장.md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454593-62C9-4ABB-BDD2-D710F32C7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916C05-7420-493A-A9FC-831C3D613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DAF37-E2AD-4B5B-90B7-EB78377754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D642BE-115E-4A81-943C-6B035E3BC80E}" type="datetimeFigureOut">
              <a:t>2026-07-29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3A005B-DC9D-4E8C-866C-5EC9FC08A2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06A91D-B905-4085-9DF9-775EF4D107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439A41D-5A35-4F04-8449-7072123692A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C4F76-CB28-48FB-8904-78FBA7FD7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57DF4E-7EBB-4D88-BF4A-E5595F569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F1FD96-26AD-4200-B2EC-26D3F5790B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D642BE-115E-4A81-943C-6B035E3BC80E}" type="datetimeFigureOut">
              <a:t>2026-07-29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F92DA6-37F6-42E3-913F-F54263585CB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D8D00-59A2-4373-AB05-9D3A2790D4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439A41D-5A35-4F04-8449-7072123692A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89D36-7BAD-4402-90C5-78B9D08F9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2584CB-8ADA-4105-8AB1-781C67339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A7B8C5-BDD2-4824-B198-98417955F2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D642BE-115E-4A81-943C-6B035E3BC80E}" type="datetimeFigureOut">
              <a:t>2026-07-29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43008F-C758-41B9-8EEF-6F065E1D95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32A008-797D-4E07-B1B1-6827583734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439A41D-5A35-4F04-8449-7072123692A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9F685-90F6-4A3C-9FCC-442ECDC6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7A95B9-898C-47ED-AC75-B35196E21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781E9E-55E8-44DF-B738-71428A84732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E6BEB2-A2FE-4007-9255-4E5C63EA376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D642BE-115E-4A81-943C-6B035E3BC80E}" type="datetimeFigureOut">
              <a:t>2026-07-29</a:t>
            </a:fld>
            <a:endParaRPr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FE995B-D302-4BE5-854E-DC3251724FE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1A9577-91FA-4096-AE65-D050BD98BB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439A41D-5A35-4F04-8449-7072123692A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1F880D-62F4-4993-9365-3D39EFF4D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B0D156-2C52-43AC-92AD-C3A5FD3F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AB1EB7-86F4-4231-8073-84050A41947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D0BF0D-F527-4228-963A-884A5CA2355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ECB851-69A8-4151-A619-E209FD9457D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35E8431-301B-444F-B176-0096C6ADDB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D642BE-115E-4A81-943C-6B035E3BC80E}" type="datetimeFigureOut">
              <a:t>2026-07-29</a:t>
            </a:fld>
            <a:endParaRPr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95657B8-68F6-4FA6-935F-9212708398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CC1C83-7B23-4971-977F-D7BF08622A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439A41D-5A35-4F04-8449-7072123692A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2DDAEE-4B6C-4CAC-99F4-5FCDCD4F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01DF90-D292-4EF1-AF75-D51ECAEC10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D642BE-115E-4A81-943C-6B035E3BC80E}" type="datetimeFigureOut">
              <a:t>2026-07-29</a:t>
            </a:fld>
            <a:endParaRPr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A726C2-D11A-419D-A877-E6A94D5E6B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B86369-A00E-44EC-9BF4-F4921A5A6D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439A41D-5A35-4F04-8449-7072123692A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4428BE-5A18-4F02-A710-AA96E3CBDE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D642BE-115E-4A81-943C-6B035E3BC80E}" type="datetimeFigureOut">
              <a:t>2026-07-29</a:t>
            </a:fld>
            <a:endParaRPr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C93A20-D5EB-42EB-A129-B9F125D830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FF9B78-AA3C-472D-B349-0CF7426834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439A41D-5A35-4F04-8449-7072123692A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51EFA-2818-4F49-9375-A178181E1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2D4BE6-0864-40CA-8786-37268951D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18BCD8-FFD4-4750-9CF7-C8A88F92275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72DDF2-8E48-4E80-B0C2-E98D628A4F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D642BE-115E-4A81-943C-6B035E3BC80E}" type="datetimeFigureOut">
              <a:t>2026-07-29</a:t>
            </a:fld>
            <a:endParaRPr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5AD866-28C3-48ED-8D41-8AFDCB9455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401FF8-72AA-471D-A336-7D7A885A8A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439A41D-5A35-4F04-8449-7072123692A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DD6CA2-8B55-4135-8582-D994F9A5C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8B08EF-2BDC-45C0-A3BF-C5C26F0B9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ACD827-9708-42A2-AE88-314D19E8782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17F8CC-E954-4BF8-96AC-6985DE9F51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D642BE-115E-4A81-943C-6B035E3BC80E}" type="datetimeFigureOut">
              <a:t>2026-07-29</a:t>
            </a:fld>
            <a:endParaRPr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0816FE-EF61-497E-81D5-C09C828946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732BDC-A7C8-4215-8FA8-0367459A8F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439A41D-5A35-4F04-8449-7072123692A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E6A70-BAC7-44CB-9506-1F1E54EB2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0C2927-1043-495C-9F37-424C9C3FC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EBE04-1F71-4E5E-9E42-2380D096F4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D642BE-115E-4A81-943C-6B035E3BC80E}" type="datetimeFigureOut">
              <a:t>2026-07-29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8DD97-0196-493B-8B38-E012945B200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BAECFB-EE22-4C12-91E3-9896D0B7D9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439A41D-5A35-4F04-8449-7072123692A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BC245C-35C8-4A05-8970-5E570C512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CE072F7-8B90-42AB-8CB1-8E7120CD4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9E1598-8611-4013-82A1-0FD905FB55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D642BE-115E-4A81-943C-6B035E3BC80E}" type="datetimeFigureOut">
              <a:t>2026-07-29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55650D-CCE2-40F3-9BE8-9DD9D74E98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8F61B1-74ED-464F-A054-0FFE93AAA5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439A41D-5A35-4F04-8449-7072123692A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94F4D8E-A4E8-4A09-8564-1E7C27F84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5206C0-1184-4648-ADEE-A7D16459C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06AB63-A062-4809-B5DC-17C1A9FF06F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642BE-115E-4A81-943C-6B035E3BC80E}" type="datetimeFigureOut">
              <a:t>2026-07-29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0300BA-3B55-4CD2-A06D-B46192B2A7E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967F5E-17D4-4EB3-9847-94C9F8F290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9A41D-5A35-4F04-8449-7072123692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C8F3B9E-C170-4606-B845-B27CB6852B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3460"/>
          </a:solidFill>
          <a:ln>
            <a:solidFill>
              <a:srgbClr val="0C34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3EA3D92-16ED-42B9-AC79-07F31CCE9DEB}"/>
              </a:ext>
            </a:extLst>
          </p:cNvPr>
          <p:cNvSpPr>
            <a:spLocks noGrp="1"/>
          </p:cNvSpPr>
          <p:nvPr/>
        </p:nvSpPr>
        <p:spPr>
          <a:xfrm>
            <a:off x="660400" y="584200"/>
            <a:ext cx="1549400" cy="355600"/>
          </a:xfrm>
          <a:prstGeom prst="round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727493-CB06-4F55-ADA3-ED3235AC1270}"/>
              </a:ext>
            </a:extLst>
          </p:cNvPr>
          <p:cNvSpPr>
            <a:spLocks noGrp="1"/>
          </p:cNvSpPr>
          <p:nvPr/>
        </p:nvSpPr>
        <p:spPr>
          <a:xfrm>
            <a:off x="800100" y="660400"/>
            <a:ext cx="13335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TEAM 3 · LLM JUDGE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7C2D0-7CDE-4ABD-925B-6A1EA63857A2}"/>
              </a:ext>
            </a:extLst>
          </p:cNvPr>
          <p:cNvSpPr>
            <a:spLocks noGrp="1"/>
          </p:cNvSpPr>
          <p:nvPr/>
        </p:nvSpPr>
        <p:spPr>
          <a:xfrm>
            <a:off x="660400" y="1422400"/>
            <a:ext cx="8255000" cy="58477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VOC_Improve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B89D8F-1792-4184-928B-2378D38AB991}"/>
              </a:ext>
            </a:extLst>
          </p:cNvPr>
          <p:cNvSpPr>
            <a:spLocks noGrp="1"/>
          </p:cNvSpPr>
          <p:nvPr/>
        </p:nvSpPr>
        <p:spPr>
          <a:xfrm>
            <a:off x="660400" y="2209800"/>
            <a:ext cx="9906000" cy="43088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800" b="1">
                <a:solidFill>
                  <a:srgbClr val="89D3E0"/>
                </a:solidFill>
                <a:latin typeface="맑은 고딕"/>
                <a:ea typeface="맑은 고딕"/>
                <a:cs typeface="맑은 고딕"/>
              </a:rPr>
              <a:t>AWS 기반 독립 LLM Judge 품질평가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057844-5DD2-4266-96B0-F52FD6C66174}"/>
              </a:ext>
            </a:extLst>
          </p:cNvPr>
          <p:cNvSpPr>
            <a:spLocks noGrp="1"/>
          </p:cNvSpPr>
          <p:nvPr/>
        </p:nvSpPr>
        <p:spPr>
          <a:xfrm>
            <a:off x="685800" y="3035300"/>
            <a:ext cx="9779000" cy="2462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600">
                <a:solidFill>
                  <a:srgbClr val="D2E1F0"/>
                </a:solidFill>
                <a:latin typeface="맑은 고딕"/>
                <a:ea typeface="맑은 고딕"/>
                <a:cs typeface="맑은 고딕"/>
              </a:rPr>
              <a:t>6-Agent 결과 → Anthropic 독립 평가 → 89점 → 95점 기준 HOLD → S3 증적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E7C88F5-D056-4998-9C7B-542CEFDB592A}"/>
              </a:ext>
            </a:extLst>
          </p:cNvPr>
          <p:cNvSpPr>
            <a:spLocks noGrp="1"/>
          </p:cNvSpPr>
          <p:nvPr/>
        </p:nvSpPr>
        <p:spPr>
          <a:xfrm>
            <a:off x="660400" y="4140200"/>
            <a:ext cx="2413000" cy="11176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772BFA-EF18-4699-AA39-05A88643F6E1}"/>
              </a:ext>
            </a:extLst>
          </p:cNvPr>
          <p:cNvSpPr>
            <a:spLocks noGrp="1"/>
          </p:cNvSpPr>
          <p:nvPr/>
        </p:nvSpPr>
        <p:spPr>
          <a:xfrm>
            <a:off x="660400" y="4140200"/>
            <a:ext cx="76200" cy="11176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CD9154-4B97-4B8E-87D4-A4982591D05C}"/>
              </a:ext>
            </a:extLst>
          </p:cNvPr>
          <p:cNvSpPr>
            <a:spLocks noGrp="1"/>
          </p:cNvSpPr>
          <p:nvPr/>
        </p:nvSpPr>
        <p:spPr>
          <a:xfrm>
            <a:off x="914400" y="4330700"/>
            <a:ext cx="2032000" cy="3847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5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18/18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357DBB-8E51-4F33-8D8F-58F60207A4B0}"/>
              </a:ext>
            </a:extLst>
          </p:cNvPr>
          <p:cNvSpPr>
            <a:spLocks noGrp="1"/>
          </p:cNvSpPr>
          <p:nvPr/>
        </p:nvSpPr>
        <p:spPr>
          <a:xfrm>
            <a:off x="914400" y="48260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라이브 E2E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89424C9-117C-4829-A0DB-0221B9B7E727}"/>
              </a:ext>
            </a:extLst>
          </p:cNvPr>
          <p:cNvSpPr>
            <a:spLocks noGrp="1"/>
          </p:cNvSpPr>
          <p:nvPr/>
        </p:nvSpPr>
        <p:spPr>
          <a:xfrm>
            <a:off x="3251200" y="4140200"/>
            <a:ext cx="2413000" cy="11176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2E56750-6EBD-4DC7-A76E-C3F41E597794}"/>
              </a:ext>
            </a:extLst>
          </p:cNvPr>
          <p:cNvSpPr>
            <a:spLocks noGrp="1"/>
          </p:cNvSpPr>
          <p:nvPr/>
        </p:nvSpPr>
        <p:spPr>
          <a:xfrm>
            <a:off x="3251200" y="4140200"/>
            <a:ext cx="76200" cy="1117600"/>
          </a:xfrm>
          <a:prstGeom prst="rect">
            <a:avLst/>
          </a:prstGeom>
          <a:solidFill>
            <a:srgbClr val="14845C"/>
          </a:solidFill>
          <a:ln>
            <a:solidFill>
              <a:srgbClr val="1484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762205-8273-4152-85D2-AF98B032BE1A}"/>
              </a:ext>
            </a:extLst>
          </p:cNvPr>
          <p:cNvSpPr>
            <a:spLocks noGrp="1"/>
          </p:cNvSpPr>
          <p:nvPr/>
        </p:nvSpPr>
        <p:spPr>
          <a:xfrm>
            <a:off x="3505200" y="4330700"/>
            <a:ext cx="2032000" cy="3847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89점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87AA4A-EEF4-4650-BFC0-083ECD7F91F6}"/>
              </a:ext>
            </a:extLst>
          </p:cNvPr>
          <p:cNvSpPr>
            <a:spLocks noGrp="1"/>
          </p:cNvSpPr>
          <p:nvPr/>
        </p:nvSpPr>
        <p:spPr>
          <a:xfrm>
            <a:off x="3505200" y="48260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독립 Judge 평균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8C3AFF0-D04C-4D64-A7A4-7A6EB98BC7FC}"/>
              </a:ext>
            </a:extLst>
          </p:cNvPr>
          <p:cNvSpPr>
            <a:spLocks noGrp="1"/>
          </p:cNvSpPr>
          <p:nvPr/>
        </p:nvSpPr>
        <p:spPr>
          <a:xfrm>
            <a:off x="5842000" y="4140200"/>
            <a:ext cx="2413000" cy="11176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4F8552F-A97B-4AAA-A23F-4D682EE5E325}"/>
              </a:ext>
            </a:extLst>
          </p:cNvPr>
          <p:cNvSpPr>
            <a:spLocks noGrp="1"/>
          </p:cNvSpPr>
          <p:nvPr/>
        </p:nvSpPr>
        <p:spPr>
          <a:xfrm>
            <a:off x="5842000" y="4140200"/>
            <a:ext cx="76200" cy="1117600"/>
          </a:xfrm>
          <a:prstGeom prst="rect">
            <a:avLst/>
          </a:prstGeom>
          <a:solidFill>
            <a:srgbClr val="1F65AE"/>
          </a:solidFill>
          <a:ln>
            <a:solidFill>
              <a:srgbClr val="1F6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C978E4-1D1E-4D77-A662-F03A9B9B5D1A}"/>
              </a:ext>
            </a:extLst>
          </p:cNvPr>
          <p:cNvSpPr>
            <a:spLocks noGrp="1"/>
          </p:cNvSpPr>
          <p:nvPr/>
        </p:nvSpPr>
        <p:spPr>
          <a:xfrm>
            <a:off x="6096000" y="4330700"/>
            <a:ext cx="2032000" cy="3847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5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95점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931FF2-0581-454F-A373-F61A5314EBE5}"/>
              </a:ext>
            </a:extLst>
          </p:cNvPr>
          <p:cNvSpPr>
            <a:spLocks noGrp="1"/>
          </p:cNvSpPr>
          <p:nvPr/>
        </p:nvSpPr>
        <p:spPr>
          <a:xfrm>
            <a:off x="6096000" y="48260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배포 승인 기준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1E86E7A-F48F-4A76-B821-004645579ACE}"/>
              </a:ext>
            </a:extLst>
          </p:cNvPr>
          <p:cNvSpPr>
            <a:spLocks noGrp="1"/>
          </p:cNvSpPr>
          <p:nvPr/>
        </p:nvSpPr>
        <p:spPr>
          <a:xfrm>
            <a:off x="8432800" y="4140200"/>
            <a:ext cx="2413000" cy="11176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69DB071-4A4B-4CCB-80E6-12A94E49D289}"/>
              </a:ext>
            </a:extLst>
          </p:cNvPr>
          <p:cNvSpPr>
            <a:spLocks noGrp="1"/>
          </p:cNvSpPr>
          <p:nvPr/>
        </p:nvSpPr>
        <p:spPr>
          <a:xfrm>
            <a:off x="8432800" y="4140200"/>
            <a:ext cx="76200" cy="1117600"/>
          </a:xfrm>
          <a:prstGeom prst="rect">
            <a:avLst/>
          </a:prstGeom>
          <a:solidFill>
            <a:srgbClr val="EBA623"/>
          </a:solidFill>
          <a:ln>
            <a:solidFill>
              <a:srgbClr val="EB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9C9D16-246F-44F5-BC43-807A810133BC}"/>
              </a:ext>
            </a:extLst>
          </p:cNvPr>
          <p:cNvSpPr>
            <a:spLocks noGrp="1"/>
          </p:cNvSpPr>
          <p:nvPr/>
        </p:nvSpPr>
        <p:spPr>
          <a:xfrm>
            <a:off x="8686800" y="4330700"/>
            <a:ext cx="2032000" cy="3847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5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HOLD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E0B873-7ED6-42E6-99F7-2572F53C5C23}"/>
              </a:ext>
            </a:extLst>
          </p:cNvPr>
          <p:cNvSpPr>
            <a:spLocks noGrp="1"/>
          </p:cNvSpPr>
          <p:nvPr/>
        </p:nvSpPr>
        <p:spPr>
          <a:xfrm>
            <a:off x="8686800" y="48260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최종 배포판정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F7DA0A-A324-4BB5-81C5-4B34F1E6A532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200" dirty="0">
                <a:solidFill>
                  <a:srgbClr val="B4CAE1"/>
                </a:solidFill>
                <a:latin typeface="맑은 고딕"/>
                <a:ea typeface="맑은 고딕"/>
                <a:cs typeface="맑은 고딕"/>
              </a:rPr>
              <a:t>2026. 07. 29 · 3팀 LLM Judge </a:t>
            </a:r>
            <a:r>
              <a:rPr sz="1200" dirty="0" err="1">
                <a:solidFill>
                  <a:srgbClr val="B4CAE1"/>
                </a:solidFill>
                <a:latin typeface="맑은 고딕"/>
                <a:ea typeface="맑은 고딕"/>
                <a:cs typeface="맑은 고딕"/>
              </a:rPr>
              <a:t>품질평가팀</a:t>
            </a:r>
            <a:endParaRPr lang="en-US" sz="1200" dirty="0">
              <a:solidFill>
                <a:srgbClr val="B4CAE1"/>
              </a:solidFill>
              <a:latin typeface="맑은 고딕"/>
              <a:ea typeface="맑은 고딕"/>
              <a:cs typeface="맑은 고딕"/>
            </a:endParaRPr>
          </a:p>
          <a:p>
            <a:r>
              <a:rPr lang="en-US" sz="1200" dirty="0">
                <a:solidFill>
                  <a:srgbClr val="B4CAE1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lang="ko-KR" altLang="en-US" sz="1200" dirty="0">
                <a:solidFill>
                  <a:srgbClr val="B4CAE1"/>
                </a:solidFill>
                <a:latin typeface="맑은 고딕"/>
                <a:ea typeface="맑은 고딕"/>
                <a:cs typeface="맑은 고딕"/>
              </a:rPr>
              <a:t>팀 </a:t>
            </a:r>
            <a:r>
              <a:rPr lang="en-US" altLang="ko-KR" sz="1200" dirty="0">
                <a:solidFill>
                  <a:srgbClr val="B4CAE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1200" dirty="0">
                <a:solidFill>
                  <a:srgbClr val="B4CAE1"/>
                </a:solidFill>
                <a:latin typeface="맑은 고딕"/>
                <a:ea typeface="맑은 고딕"/>
                <a:cs typeface="맑은 고딕"/>
              </a:rPr>
              <a:t>김경숙</a:t>
            </a:r>
            <a:r>
              <a:rPr lang="en-US" altLang="ko-KR" sz="1200" dirty="0">
                <a:solidFill>
                  <a:srgbClr val="B4CAE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200" dirty="0" err="1">
                <a:solidFill>
                  <a:srgbClr val="B4CAE1"/>
                </a:solidFill>
                <a:latin typeface="맑은 고딕"/>
                <a:ea typeface="맑은 고딕"/>
                <a:cs typeface="맑은 고딕"/>
              </a:rPr>
              <a:t>나병진</a:t>
            </a:r>
            <a:r>
              <a:rPr lang="en-US" altLang="ko-KR" sz="1200" dirty="0">
                <a:solidFill>
                  <a:srgbClr val="B4CAE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200" dirty="0" err="1">
                <a:solidFill>
                  <a:srgbClr val="B4CAE1"/>
                </a:solidFill>
                <a:latin typeface="맑은 고딕"/>
                <a:ea typeface="맑은 고딕"/>
                <a:cs typeface="맑은 고딕"/>
              </a:rPr>
              <a:t>정진웅</a:t>
            </a:r>
            <a:r>
              <a:rPr lang="en-US" altLang="ko-KR" sz="1200" dirty="0">
                <a:solidFill>
                  <a:srgbClr val="B4CAE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200" dirty="0">
                <a:solidFill>
                  <a:srgbClr val="B4CAE1"/>
                </a:solidFill>
                <a:latin typeface="맑은 고딕"/>
                <a:ea typeface="맑은 고딕"/>
                <a:cs typeface="맑은 고딕"/>
              </a:rPr>
              <a:t>최성우</a:t>
            </a:r>
            <a:endParaRPr sz="1200" dirty="0">
              <a:solidFill>
                <a:srgbClr val="B4CAE1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637584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2D6189D-4612-46C1-8501-7C049A13C4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772109-7ED0-4F56-B2E9-6CF4CE21AD9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01 · TEAM 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50B4A0-5B0C-43BB-8D38-7D9D9565D351}"/>
              </a:ext>
            </a:extLst>
          </p:cNvPr>
          <p:cNvSpPr>
            <a:spLocks noGrp="1"/>
          </p:cNvSpPr>
          <p:nvPr/>
        </p:nvSpPr>
        <p:spPr>
          <a:xfrm>
            <a:off x="609600" y="7112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3팀은 답변 생성과 품질 판정을 분리했습니다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43202D-4120-43CE-BA5B-AC3328B965D3}"/>
              </a:ext>
            </a:extLst>
          </p:cNvPr>
          <p:cNvSpPr>
            <a:spLocks noGrp="1"/>
          </p:cNvSpPr>
          <p:nvPr/>
        </p:nvSpPr>
        <p:spPr>
          <a:xfrm>
            <a:off x="11150600" y="4826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8F04F1A-A3B1-4BF8-BFB9-1E911481D6FA}"/>
              </a:ext>
            </a:extLst>
          </p:cNvPr>
          <p:cNvSpPr>
            <a:spLocks noGrp="1"/>
          </p:cNvSpPr>
          <p:nvPr/>
        </p:nvSpPr>
        <p:spPr>
          <a:xfrm>
            <a:off x="609600" y="1841500"/>
            <a:ext cx="3352800" cy="30226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8F76E2-866F-47E2-85A9-4FBAF8EC491D}"/>
              </a:ext>
            </a:extLst>
          </p:cNvPr>
          <p:cNvSpPr>
            <a:spLocks noGrp="1"/>
          </p:cNvSpPr>
          <p:nvPr/>
        </p:nvSpPr>
        <p:spPr>
          <a:xfrm>
            <a:off x="863600" y="2095500"/>
            <a:ext cx="660400" cy="2462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6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41C144-1B25-4B67-8864-EAE7180CA241}"/>
              </a:ext>
            </a:extLst>
          </p:cNvPr>
          <p:cNvSpPr>
            <a:spLocks noGrp="1"/>
          </p:cNvSpPr>
          <p:nvPr/>
        </p:nvSpPr>
        <p:spPr>
          <a:xfrm>
            <a:off x="863600" y="2679700"/>
            <a:ext cx="2794000" cy="32316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1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독립 평가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68F2FB-DB85-4046-8FF9-9EC7CCCEA3FE}"/>
              </a:ext>
            </a:extLst>
          </p:cNvPr>
          <p:cNvSpPr>
            <a:spLocks noGrp="1"/>
          </p:cNvSpPr>
          <p:nvPr/>
        </p:nvSpPr>
        <p:spPr>
          <a:xfrm>
            <a:off x="863600" y="3390900"/>
            <a:ext cx="2794000" cy="46166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OpenAI 생성 결과를
Anthropic이 평가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5DEB6F6-7EC5-4ED9-881A-7BB53C18A96D}"/>
              </a:ext>
            </a:extLst>
          </p:cNvPr>
          <p:cNvSpPr>
            <a:spLocks noGrp="1"/>
          </p:cNvSpPr>
          <p:nvPr/>
        </p:nvSpPr>
        <p:spPr>
          <a:xfrm>
            <a:off x="863600" y="4470400"/>
            <a:ext cx="914400" cy="63500"/>
          </a:xfrm>
          <a:prstGeom prst="rect">
            <a:avLst/>
          </a:prstGeom>
          <a:solidFill>
            <a:srgbClr val="1F65AE"/>
          </a:solidFill>
          <a:ln>
            <a:solidFill>
              <a:srgbClr val="1F6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09657A9-0D78-443F-8810-4A8D34D80EA9}"/>
              </a:ext>
            </a:extLst>
          </p:cNvPr>
          <p:cNvSpPr>
            <a:spLocks noGrp="1"/>
          </p:cNvSpPr>
          <p:nvPr/>
        </p:nvSpPr>
        <p:spPr>
          <a:xfrm>
            <a:off x="4368800" y="1841500"/>
            <a:ext cx="3352800" cy="30226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74C43-59C6-4491-A3D7-C675ECC9D133}"/>
              </a:ext>
            </a:extLst>
          </p:cNvPr>
          <p:cNvSpPr>
            <a:spLocks noGrp="1"/>
          </p:cNvSpPr>
          <p:nvPr/>
        </p:nvSpPr>
        <p:spPr>
          <a:xfrm>
            <a:off x="4622800" y="2095500"/>
            <a:ext cx="660400" cy="2462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6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F38495-BA39-4818-B81D-A98329B9A6A4}"/>
              </a:ext>
            </a:extLst>
          </p:cNvPr>
          <p:cNvSpPr>
            <a:spLocks noGrp="1"/>
          </p:cNvSpPr>
          <p:nvPr/>
        </p:nvSpPr>
        <p:spPr>
          <a:xfrm>
            <a:off x="4622800" y="2679700"/>
            <a:ext cx="2794000" cy="32316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1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정량 점수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1CB05A-D272-473E-9FE6-451F0DDEAD31}"/>
              </a:ext>
            </a:extLst>
          </p:cNvPr>
          <p:cNvSpPr>
            <a:spLocks noGrp="1"/>
          </p:cNvSpPr>
          <p:nvPr/>
        </p:nvSpPr>
        <p:spPr>
          <a:xfrm>
            <a:off x="4622800" y="3390900"/>
            <a:ext cx="2794000" cy="46166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9개 평가 항목 100점
Judge 평균 89점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7B466E7-5FE8-4FCB-BEDF-34206B33C05C}"/>
              </a:ext>
            </a:extLst>
          </p:cNvPr>
          <p:cNvSpPr>
            <a:spLocks noGrp="1"/>
          </p:cNvSpPr>
          <p:nvPr/>
        </p:nvSpPr>
        <p:spPr>
          <a:xfrm>
            <a:off x="4622800" y="4470400"/>
            <a:ext cx="914400" cy="635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C8CE521-E211-40E2-BA57-CB0362573D44}"/>
              </a:ext>
            </a:extLst>
          </p:cNvPr>
          <p:cNvSpPr>
            <a:spLocks noGrp="1"/>
          </p:cNvSpPr>
          <p:nvPr/>
        </p:nvSpPr>
        <p:spPr>
          <a:xfrm>
            <a:off x="8128000" y="1841500"/>
            <a:ext cx="3352800" cy="30226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1CCADC-2255-49D2-AEB0-1F2020BFFE72}"/>
              </a:ext>
            </a:extLst>
          </p:cNvPr>
          <p:cNvSpPr>
            <a:spLocks noGrp="1"/>
          </p:cNvSpPr>
          <p:nvPr/>
        </p:nvSpPr>
        <p:spPr>
          <a:xfrm>
            <a:off x="8382000" y="2095500"/>
            <a:ext cx="660400" cy="2462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6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9E8755-D186-4009-8B22-5A5FDF640991}"/>
              </a:ext>
            </a:extLst>
          </p:cNvPr>
          <p:cNvSpPr>
            <a:spLocks noGrp="1"/>
          </p:cNvSpPr>
          <p:nvPr/>
        </p:nvSpPr>
        <p:spPr>
          <a:xfrm>
            <a:off x="8382000" y="2679700"/>
            <a:ext cx="2794000" cy="32316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1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배포 판정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E3BEDC-E065-452C-84D6-23F783BABB05}"/>
              </a:ext>
            </a:extLst>
          </p:cNvPr>
          <p:cNvSpPr>
            <a:spLocks noGrp="1"/>
          </p:cNvSpPr>
          <p:nvPr/>
        </p:nvSpPr>
        <p:spPr>
          <a:xfrm>
            <a:off x="8382000" y="3390900"/>
            <a:ext cx="2794000" cy="46166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95점 기준과 비교해
최종 HOLD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171C736-B6C2-4DC2-8AED-F07DBB94B7F8}"/>
              </a:ext>
            </a:extLst>
          </p:cNvPr>
          <p:cNvSpPr>
            <a:spLocks noGrp="1"/>
          </p:cNvSpPr>
          <p:nvPr/>
        </p:nvSpPr>
        <p:spPr>
          <a:xfrm>
            <a:off x="8382000" y="4470400"/>
            <a:ext cx="914400" cy="63500"/>
          </a:xfrm>
          <a:prstGeom prst="rect">
            <a:avLst/>
          </a:prstGeom>
          <a:solidFill>
            <a:srgbClr val="EBA623"/>
          </a:solidFill>
          <a:ln>
            <a:solidFill>
              <a:srgbClr val="EB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6926DE-3B8F-44E3-BF83-9F372B14C0C2}"/>
              </a:ext>
            </a:extLst>
          </p:cNvPr>
          <p:cNvSpPr>
            <a:spLocks noGrp="1"/>
          </p:cNvSpPr>
          <p:nvPr/>
        </p:nvSpPr>
        <p:spPr>
          <a:xfrm>
            <a:off x="609600" y="5384800"/>
            <a:ext cx="10871200" cy="26161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핵심 원칙  |  테스트 PASS와 응답 품질 점수는 별도로 판단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F874DF-8480-487C-B6ED-CE524009A176}"/>
              </a:ext>
            </a:extLst>
          </p:cNvPr>
          <p:cNvSpPr>
            <a:spLocks noGrp="1"/>
          </p:cNvSpPr>
          <p:nvPr/>
        </p:nvSpPr>
        <p:spPr>
          <a:xfrm>
            <a:off x="609600" y="65024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3팀 LLM Judge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F7E2D6-00B3-4BE9-B64E-AF69EACD360C}"/>
              </a:ext>
            </a:extLst>
          </p:cNvPr>
          <p:cNvSpPr>
            <a:spLocks noGrp="1"/>
          </p:cNvSpPr>
          <p:nvPr/>
        </p:nvSpPr>
        <p:spPr>
          <a:xfrm>
            <a:off x="10414000" y="65024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1544595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3C7A0D-9CBF-41B5-94BD-555C634010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F81E5-DCE4-4C16-908E-A4EB825D7DA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02 · JUDGE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E6F9CF-13CC-497D-BC28-07E1A4E09C58}"/>
              </a:ext>
            </a:extLst>
          </p:cNvPr>
          <p:cNvSpPr>
            <a:spLocks noGrp="1"/>
          </p:cNvSpPr>
          <p:nvPr/>
        </p:nvSpPr>
        <p:spPr>
          <a:xfrm>
            <a:off x="609600" y="7112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독립 Judge 결과를 AWS 감사 증적으로 보관합니다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1C15C9-1C50-4950-86A0-F89DF2E7BB43}"/>
              </a:ext>
            </a:extLst>
          </p:cNvPr>
          <p:cNvSpPr>
            <a:spLocks noGrp="1"/>
          </p:cNvSpPr>
          <p:nvPr/>
        </p:nvSpPr>
        <p:spPr>
          <a:xfrm>
            <a:off x="11150600" y="4826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0090FB0-BFB6-462B-85C4-F8004DD1C4F9}"/>
              </a:ext>
            </a:extLst>
          </p:cNvPr>
          <p:cNvSpPr>
            <a:spLocks noGrp="1"/>
          </p:cNvSpPr>
          <p:nvPr/>
        </p:nvSpPr>
        <p:spPr>
          <a:xfrm>
            <a:off x="431800" y="2159000"/>
            <a:ext cx="19812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D9A3DA-463F-406D-893D-C70E88C525EA}"/>
              </a:ext>
            </a:extLst>
          </p:cNvPr>
          <p:cNvSpPr>
            <a:spLocks noGrp="1"/>
          </p:cNvSpPr>
          <p:nvPr/>
        </p:nvSpPr>
        <p:spPr>
          <a:xfrm>
            <a:off x="635000" y="2362200"/>
            <a:ext cx="406400" cy="18466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2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A3672-9BB7-4D05-9AA9-FBF06BBC1766}"/>
              </a:ext>
            </a:extLst>
          </p:cNvPr>
          <p:cNvSpPr>
            <a:spLocks noGrp="1"/>
          </p:cNvSpPr>
          <p:nvPr/>
        </p:nvSpPr>
        <p:spPr>
          <a:xfrm>
            <a:off x="635000" y="2844800"/>
            <a:ext cx="1574800" cy="52322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6-Agent 답변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021144-31F5-4915-B22D-7DD99ABDCDD2}"/>
              </a:ext>
            </a:extLst>
          </p:cNvPr>
          <p:cNvSpPr>
            <a:spLocks noGrp="1"/>
          </p:cNvSpPr>
          <p:nvPr/>
        </p:nvSpPr>
        <p:spPr>
          <a:xfrm>
            <a:off x="635000" y="3479800"/>
            <a:ext cx="1574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OpenAI 기반 생성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057C19-040F-4F64-92B8-AC2B79C32C33}"/>
              </a:ext>
            </a:extLst>
          </p:cNvPr>
          <p:cNvSpPr>
            <a:spLocks noGrp="1"/>
          </p:cNvSpPr>
          <p:nvPr/>
        </p:nvSpPr>
        <p:spPr>
          <a:xfrm>
            <a:off x="2425700" y="28067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22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0140D64-48A8-42AF-B2A0-AAF671FADC6D}"/>
              </a:ext>
            </a:extLst>
          </p:cNvPr>
          <p:cNvSpPr>
            <a:spLocks noGrp="1"/>
          </p:cNvSpPr>
          <p:nvPr/>
        </p:nvSpPr>
        <p:spPr>
          <a:xfrm>
            <a:off x="2781300" y="2159000"/>
            <a:ext cx="19812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A904BF-65F3-479C-B140-BD5C55C4F46C}"/>
              </a:ext>
            </a:extLst>
          </p:cNvPr>
          <p:cNvSpPr>
            <a:spLocks noGrp="1"/>
          </p:cNvSpPr>
          <p:nvPr/>
        </p:nvSpPr>
        <p:spPr>
          <a:xfrm>
            <a:off x="2984500" y="2362200"/>
            <a:ext cx="406400" cy="18466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2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FDCE64-2ABB-497A-9A5B-BBAC39372197}"/>
              </a:ext>
            </a:extLst>
          </p:cNvPr>
          <p:cNvSpPr>
            <a:spLocks noGrp="1"/>
          </p:cNvSpPr>
          <p:nvPr/>
        </p:nvSpPr>
        <p:spPr>
          <a:xfrm>
            <a:off x="2984500" y="2844800"/>
            <a:ext cx="1574800" cy="26161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pytest 검증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B51BA1-3A17-4010-ADEE-60BECE6B0E73}"/>
              </a:ext>
            </a:extLst>
          </p:cNvPr>
          <p:cNvSpPr>
            <a:spLocks noGrp="1"/>
          </p:cNvSpPr>
          <p:nvPr/>
        </p:nvSpPr>
        <p:spPr>
          <a:xfrm>
            <a:off x="2984500" y="3479800"/>
            <a:ext cx="1574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기능·규칙 PASS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E8C3EF-D720-4C53-A6D9-40CC7196DB27}"/>
              </a:ext>
            </a:extLst>
          </p:cNvPr>
          <p:cNvSpPr>
            <a:spLocks noGrp="1"/>
          </p:cNvSpPr>
          <p:nvPr/>
        </p:nvSpPr>
        <p:spPr>
          <a:xfrm>
            <a:off x="4775200" y="28067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22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95B4B52-5D1B-4851-B318-D04B9C15F821}"/>
              </a:ext>
            </a:extLst>
          </p:cNvPr>
          <p:cNvSpPr>
            <a:spLocks noGrp="1"/>
          </p:cNvSpPr>
          <p:nvPr/>
        </p:nvSpPr>
        <p:spPr>
          <a:xfrm>
            <a:off x="5130800" y="2159000"/>
            <a:ext cx="19812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99C383-ADD2-4CE9-9063-C948EFE2215C}"/>
              </a:ext>
            </a:extLst>
          </p:cNvPr>
          <p:cNvSpPr>
            <a:spLocks noGrp="1"/>
          </p:cNvSpPr>
          <p:nvPr/>
        </p:nvSpPr>
        <p:spPr>
          <a:xfrm>
            <a:off x="5334000" y="2362200"/>
            <a:ext cx="406400" cy="18466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2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BD2E81-00C7-4ACF-9D2B-6855EF3094C1}"/>
              </a:ext>
            </a:extLst>
          </p:cNvPr>
          <p:cNvSpPr>
            <a:spLocks noGrp="1"/>
          </p:cNvSpPr>
          <p:nvPr/>
        </p:nvSpPr>
        <p:spPr>
          <a:xfrm>
            <a:off x="5334000" y="2844800"/>
            <a:ext cx="1574800" cy="51816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Anthropic Judge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069C5F-1DEF-4A9E-90D4-01A7B50D6755}"/>
              </a:ext>
            </a:extLst>
          </p:cNvPr>
          <p:cNvSpPr>
            <a:spLocks noGrp="1"/>
          </p:cNvSpPr>
          <p:nvPr/>
        </p:nvSpPr>
        <p:spPr>
          <a:xfrm>
            <a:off x="5334000" y="3479800"/>
            <a:ext cx="1574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독립 품질평가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D9E0AE-EEFC-4788-82EB-743894D2CA10}"/>
              </a:ext>
            </a:extLst>
          </p:cNvPr>
          <p:cNvSpPr>
            <a:spLocks noGrp="1"/>
          </p:cNvSpPr>
          <p:nvPr/>
        </p:nvSpPr>
        <p:spPr>
          <a:xfrm>
            <a:off x="7124700" y="28067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22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42B6135-EF62-47BF-9A2B-61198DB57D97}"/>
              </a:ext>
            </a:extLst>
          </p:cNvPr>
          <p:cNvSpPr>
            <a:spLocks noGrp="1"/>
          </p:cNvSpPr>
          <p:nvPr/>
        </p:nvSpPr>
        <p:spPr>
          <a:xfrm>
            <a:off x="7480300" y="2159000"/>
            <a:ext cx="1981200" cy="1905000"/>
          </a:xfrm>
          <a:prstGeom prst="roundRect">
            <a:avLst/>
          </a:prstGeom>
          <a:solidFill>
            <a:srgbClr val="EBF6F2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38F3DF-87B2-4A2A-9005-AE7F2E8F4618}"/>
              </a:ext>
            </a:extLst>
          </p:cNvPr>
          <p:cNvSpPr>
            <a:spLocks noGrp="1"/>
          </p:cNvSpPr>
          <p:nvPr/>
        </p:nvSpPr>
        <p:spPr>
          <a:xfrm>
            <a:off x="7683500" y="2362200"/>
            <a:ext cx="406400" cy="18466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2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595AF9-69C8-4E7A-A7E9-B3B9E426B749}"/>
              </a:ext>
            </a:extLst>
          </p:cNvPr>
          <p:cNvSpPr>
            <a:spLocks noGrp="1"/>
          </p:cNvSpPr>
          <p:nvPr/>
        </p:nvSpPr>
        <p:spPr>
          <a:xfrm>
            <a:off x="7683500" y="2844800"/>
            <a:ext cx="1574800" cy="52322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점수·판정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B159D9-EA87-4CEF-ABA8-37DE9679F243}"/>
              </a:ext>
            </a:extLst>
          </p:cNvPr>
          <p:cNvSpPr>
            <a:spLocks noGrp="1"/>
          </p:cNvSpPr>
          <p:nvPr/>
        </p:nvSpPr>
        <p:spPr>
          <a:xfrm>
            <a:off x="7683500" y="3479800"/>
            <a:ext cx="1574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89점 · HOLD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2B80D3-F70C-41B5-A885-3CABAFA5FB87}"/>
              </a:ext>
            </a:extLst>
          </p:cNvPr>
          <p:cNvSpPr>
            <a:spLocks noGrp="1"/>
          </p:cNvSpPr>
          <p:nvPr/>
        </p:nvSpPr>
        <p:spPr>
          <a:xfrm>
            <a:off x="9474200" y="28067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22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D3066FB-1CE8-42CC-B7BD-B12A4CD0DB90}"/>
              </a:ext>
            </a:extLst>
          </p:cNvPr>
          <p:cNvSpPr>
            <a:spLocks noGrp="1"/>
          </p:cNvSpPr>
          <p:nvPr/>
        </p:nvSpPr>
        <p:spPr>
          <a:xfrm>
            <a:off x="9829800" y="2159000"/>
            <a:ext cx="1981200" cy="1905000"/>
          </a:xfrm>
          <a:prstGeom prst="roundRect">
            <a:avLst/>
          </a:prstGeom>
          <a:solidFill>
            <a:srgbClr val="FFF6E2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007630-BBC1-4575-8E1A-C25FE57D2469}"/>
              </a:ext>
            </a:extLst>
          </p:cNvPr>
          <p:cNvSpPr>
            <a:spLocks noGrp="1"/>
          </p:cNvSpPr>
          <p:nvPr/>
        </p:nvSpPr>
        <p:spPr>
          <a:xfrm>
            <a:off x="10033000" y="2362200"/>
            <a:ext cx="406400" cy="18466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2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5AC014-6281-4259-8FA8-AF25525D2B6A}"/>
              </a:ext>
            </a:extLst>
          </p:cNvPr>
          <p:cNvSpPr>
            <a:spLocks noGrp="1"/>
          </p:cNvSpPr>
          <p:nvPr/>
        </p:nvSpPr>
        <p:spPr>
          <a:xfrm>
            <a:off x="10033000" y="2844800"/>
            <a:ext cx="1574800" cy="26161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S3·CloudTrail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4A48C9-0E4F-4C0C-BD66-59A39AF7E735}"/>
              </a:ext>
            </a:extLst>
          </p:cNvPr>
          <p:cNvSpPr>
            <a:spLocks noGrp="1"/>
          </p:cNvSpPr>
          <p:nvPr/>
        </p:nvSpPr>
        <p:spPr>
          <a:xfrm>
            <a:off x="10033000" y="3479800"/>
            <a:ext cx="1574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저장 · 감사 · 삭제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5B03A1D-F93A-4519-87DC-9DAA6C1B9404}"/>
              </a:ext>
            </a:extLst>
          </p:cNvPr>
          <p:cNvSpPr>
            <a:spLocks noGrp="1"/>
          </p:cNvSpPr>
          <p:nvPr/>
        </p:nvSpPr>
        <p:spPr>
          <a:xfrm>
            <a:off x="1803400" y="4635500"/>
            <a:ext cx="8585200" cy="787400"/>
          </a:xfrm>
          <a:prstGeom prst="roundRect">
            <a:avLst/>
          </a:prstGeom>
          <a:solidFill>
            <a:srgbClr val="E8F2FC"/>
          </a:solidFill>
          <a:ln>
            <a:solidFill>
              <a:srgbClr val="B5D3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86B4B1-C331-46F7-BAC8-ACEA2F706F2D}"/>
              </a:ext>
            </a:extLst>
          </p:cNvPr>
          <p:cNvSpPr>
            <a:spLocks noGrp="1"/>
          </p:cNvSpPr>
          <p:nvPr/>
        </p:nvSpPr>
        <p:spPr>
          <a:xfrm>
            <a:off x="2082800" y="4889500"/>
            <a:ext cx="8026400" cy="230832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생성 모델이 자기 답변을 채점하지 않는 독립 평가 구조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3237B9-F76F-451B-92C0-C052A4A56D29}"/>
              </a:ext>
            </a:extLst>
          </p:cNvPr>
          <p:cNvSpPr>
            <a:spLocks noGrp="1"/>
          </p:cNvSpPr>
          <p:nvPr/>
        </p:nvSpPr>
        <p:spPr>
          <a:xfrm>
            <a:off x="609600" y="65024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3팀 LLM Judge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53B404-A6C5-4285-861A-32C4D9B495F9}"/>
              </a:ext>
            </a:extLst>
          </p:cNvPr>
          <p:cNvSpPr>
            <a:spLocks noGrp="1"/>
          </p:cNvSpPr>
          <p:nvPr/>
        </p:nvSpPr>
        <p:spPr>
          <a:xfrm>
            <a:off x="10414000" y="65024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3788076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7C9DD0C-9072-434E-8610-A6535E9B1D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DAC77-D67D-49A0-8F63-C3714B217EF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03 · JUDGE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F008E4-8415-4BB1-83AB-C70D7636F03C}"/>
              </a:ext>
            </a:extLst>
          </p:cNvPr>
          <p:cNvSpPr>
            <a:spLocks noGrp="1"/>
          </p:cNvSpPr>
          <p:nvPr/>
        </p:nvSpPr>
        <p:spPr>
          <a:xfrm>
            <a:off x="609600" y="7112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3팀 핵심 산출물은 Judge 결과·점수·판정입니다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E51AC-A578-4D98-AEA5-593C5EF1736E}"/>
              </a:ext>
            </a:extLst>
          </p:cNvPr>
          <p:cNvSpPr>
            <a:spLocks noGrp="1"/>
          </p:cNvSpPr>
          <p:nvPr/>
        </p:nvSpPr>
        <p:spPr>
          <a:xfrm>
            <a:off x="11150600" y="4826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4A7878B-FA91-4FF9-8D47-35571DF4DE1C}"/>
              </a:ext>
            </a:extLst>
          </p:cNvPr>
          <p:cNvSpPr>
            <a:spLocks noGrp="1"/>
          </p:cNvSpPr>
          <p:nvPr/>
        </p:nvSpPr>
        <p:spPr>
          <a:xfrm>
            <a:off x="609600" y="1803400"/>
            <a:ext cx="33528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1A3D69-7157-457C-9913-578C0C1B7E70}"/>
              </a:ext>
            </a:extLst>
          </p:cNvPr>
          <p:cNvSpPr>
            <a:spLocks noGrp="1"/>
          </p:cNvSpPr>
          <p:nvPr/>
        </p:nvSpPr>
        <p:spPr>
          <a:xfrm>
            <a:off x="609600" y="1803400"/>
            <a:ext cx="660400" cy="1422400"/>
          </a:xfrm>
          <a:prstGeom prst="rect">
            <a:avLst/>
          </a:prstGeom>
          <a:solidFill>
            <a:srgbClr val="1F65AE"/>
          </a:solidFill>
          <a:ln>
            <a:solidFill>
              <a:srgbClr val="1F6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43EAD5-353E-4980-9E97-2865F8A38539}"/>
              </a:ext>
            </a:extLst>
          </p:cNvPr>
          <p:cNvSpPr>
            <a:spLocks noGrp="1"/>
          </p:cNvSpPr>
          <p:nvPr/>
        </p:nvSpPr>
        <p:spPr>
          <a:xfrm>
            <a:off x="736600" y="2311400"/>
            <a:ext cx="406400" cy="26161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A6574A-CA46-44FE-B922-55DB36AE1BC9}"/>
              </a:ext>
            </a:extLst>
          </p:cNvPr>
          <p:cNvSpPr>
            <a:spLocks noGrp="1"/>
          </p:cNvSpPr>
          <p:nvPr/>
        </p:nvSpPr>
        <p:spPr>
          <a:xfrm>
            <a:off x="1498600" y="2082800"/>
            <a:ext cx="2260600" cy="26161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llm_judge_result.csv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6368A7-EF0F-4677-8D90-EF72125FACD6}"/>
              </a:ext>
            </a:extLst>
          </p:cNvPr>
          <p:cNvSpPr>
            <a:spLocks noGrp="1"/>
          </p:cNvSpPr>
          <p:nvPr/>
        </p:nvSpPr>
        <p:spPr>
          <a:xfrm>
            <a:off x="1498600" y="2565400"/>
            <a:ext cx="2260600" cy="18466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케이스별 독립 Judge 결과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ABD50F6-C622-4D63-A094-7E517AD10652}"/>
              </a:ext>
            </a:extLst>
          </p:cNvPr>
          <p:cNvSpPr>
            <a:spLocks noGrp="1"/>
          </p:cNvSpPr>
          <p:nvPr/>
        </p:nvSpPr>
        <p:spPr>
          <a:xfrm>
            <a:off x="4318000" y="1803400"/>
            <a:ext cx="33528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EE03E6-4877-43D3-A7CB-D96A1586742E}"/>
              </a:ext>
            </a:extLst>
          </p:cNvPr>
          <p:cNvSpPr>
            <a:spLocks noGrp="1"/>
          </p:cNvSpPr>
          <p:nvPr/>
        </p:nvSpPr>
        <p:spPr>
          <a:xfrm>
            <a:off x="4318000" y="1803400"/>
            <a:ext cx="660400" cy="1422400"/>
          </a:xfrm>
          <a:prstGeom prst="rect">
            <a:avLst/>
          </a:prstGeom>
          <a:solidFill>
            <a:srgbClr val="1F65AE"/>
          </a:solidFill>
          <a:ln>
            <a:solidFill>
              <a:srgbClr val="1F6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C5FA74-2107-4E27-B988-ECE0D3E63F80}"/>
              </a:ext>
            </a:extLst>
          </p:cNvPr>
          <p:cNvSpPr>
            <a:spLocks noGrp="1"/>
          </p:cNvSpPr>
          <p:nvPr/>
        </p:nvSpPr>
        <p:spPr>
          <a:xfrm>
            <a:off x="4445000" y="2311400"/>
            <a:ext cx="406400" cy="26161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F305C9-A545-4246-99A5-4D550ACCD118}"/>
              </a:ext>
            </a:extLst>
          </p:cNvPr>
          <p:cNvSpPr>
            <a:spLocks noGrp="1"/>
          </p:cNvSpPr>
          <p:nvPr/>
        </p:nvSpPr>
        <p:spPr>
          <a:xfrm>
            <a:off x="5207000" y="2082800"/>
            <a:ext cx="2260600" cy="26161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quality_score_report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276E16-5947-434A-86A5-E7BA8859F05D}"/>
              </a:ext>
            </a:extLst>
          </p:cNvPr>
          <p:cNvSpPr>
            <a:spLocks noGrp="1"/>
          </p:cNvSpPr>
          <p:nvPr/>
        </p:nvSpPr>
        <p:spPr>
          <a:xfrm>
            <a:off x="5207000" y="2565400"/>
            <a:ext cx="2260600" cy="18466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.md · 9개 항목 품질점수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F2FC371-B18F-479B-97CE-97AA76B6B63E}"/>
              </a:ext>
            </a:extLst>
          </p:cNvPr>
          <p:cNvSpPr>
            <a:spLocks noGrp="1"/>
          </p:cNvSpPr>
          <p:nvPr/>
        </p:nvSpPr>
        <p:spPr>
          <a:xfrm>
            <a:off x="8026400" y="1803400"/>
            <a:ext cx="33528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D379FC2-4010-449C-B443-EDBBB5AFDFD2}"/>
              </a:ext>
            </a:extLst>
          </p:cNvPr>
          <p:cNvSpPr>
            <a:spLocks noGrp="1"/>
          </p:cNvSpPr>
          <p:nvPr/>
        </p:nvSpPr>
        <p:spPr>
          <a:xfrm>
            <a:off x="8026400" y="1803400"/>
            <a:ext cx="660400" cy="1422400"/>
          </a:xfrm>
          <a:prstGeom prst="rect">
            <a:avLst/>
          </a:prstGeom>
          <a:solidFill>
            <a:srgbClr val="1F65AE"/>
          </a:solidFill>
          <a:ln>
            <a:solidFill>
              <a:srgbClr val="1F6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4DA527-B931-411B-BFB1-EE861DAB9072}"/>
              </a:ext>
            </a:extLst>
          </p:cNvPr>
          <p:cNvSpPr>
            <a:spLocks noGrp="1"/>
          </p:cNvSpPr>
          <p:nvPr/>
        </p:nvSpPr>
        <p:spPr>
          <a:xfrm>
            <a:off x="8153400" y="2311400"/>
            <a:ext cx="406400" cy="26161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2B9225-A45F-4462-8887-AEA47A35051F}"/>
              </a:ext>
            </a:extLst>
          </p:cNvPr>
          <p:cNvSpPr>
            <a:spLocks noGrp="1"/>
          </p:cNvSpPr>
          <p:nvPr/>
        </p:nvSpPr>
        <p:spPr>
          <a:xfrm>
            <a:off x="8915400" y="2082800"/>
            <a:ext cx="2260600" cy="26161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deployment_decision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3989AF-B0BC-47D3-9701-8C6CB2A22565}"/>
              </a:ext>
            </a:extLst>
          </p:cNvPr>
          <p:cNvSpPr>
            <a:spLocks noGrp="1"/>
          </p:cNvSpPr>
          <p:nvPr/>
        </p:nvSpPr>
        <p:spPr>
          <a:xfrm>
            <a:off x="8915400" y="2565400"/>
            <a:ext cx="2260600" cy="18466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.md · 95점 기준 판정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F81480E-F186-4FB9-A33E-51805A45A70D}"/>
              </a:ext>
            </a:extLst>
          </p:cNvPr>
          <p:cNvSpPr>
            <a:spLocks noGrp="1"/>
          </p:cNvSpPr>
          <p:nvPr/>
        </p:nvSpPr>
        <p:spPr>
          <a:xfrm>
            <a:off x="609600" y="3606800"/>
            <a:ext cx="33528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8AABFF8-DB58-42B2-AE94-DDA9E725FD23}"/>
              </a:ext>
            </a:extLst>
          </p:cNvPr>
          <p:cNvSpPr>
            <a:spLocks noGrp="1"/>
          </p:cNvSpPr>
          <p:nvPr/>
        </p:nvSpPr>
        <p:spPr>
          <a:xfrm>
            <a:off x="609600" y="3606800"/>
            <a:ext cx="660400" cy="14224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DF6AF0-3EA0-49C1-8620-47E0894B07A4}"/>
              </a:ext>
            </a:extLst>
          </p:cNvPr>
          <p:cNvSpPr>
            <a:spLocks noGrp="1"/>
          </p:cNvSpPr>
          <p:nvPr/>
        </p:nvSpPr>
        <p:spPr>
          <a:xfrm>
            <a:off x="736600" y="4114800"/>
            <a:ext cx="406400" cy="26161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44F372-21A5-4F91-A3DD-E7B2EF80EF4B}"/>
              </a:ext>
            </a:extLst>
          </p:cNvPr>
          <p:cNvSpPr>
            <a:spLocks noGrp="1"/>
          </p:cNvSpPr>
          <p:nvPr/>
        </p:nvSpPr>
        <p:spPr>
          <a:xfrm>
            <a:off x="1498600" y="3886200"/>
            <a:ext cx="2260600" cy="26161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pytest_result.txt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E44538-C867-498D-8924-C348C99CFD76}"/>
              </a:ext>
            </a:extLst>
          </p:cNvPr>
          <p:cNvSpPr>
            <a:spLocks noGrp="1"/>
          </p:cNvSpPr>
          <p:nvPr/>
        </p:nvSpPr>
        <p:spPr>
          <a:xfrm>
            <a:off x="1498600" y="4368800"/>
            <a:ext cx="2260600" cy="18466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정형 테스트 결과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E2DBCFA-09C8-4100-9423-FC7EE91BD09E}"/>
              </a:ext>
            </a:extLst>
          </p:cNvPr>
          <p:cNvSpPr>
            <a:spLocks noGrp="1"/>
          </p:cNvSpPr>
          <p:nvPr/>
        </p:nvSpPr>
        <p:spPr>
          <a:xfrm>
            <a:off x="4318000" y="3606800"/>
            <a:ext cx="33528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46A1014-8EAB-4201-975E-AE371A3EBEAB}"/>
              </a:ext>
            </a:extLst>
          </p:cNvPr>
          <p:cNvSpPr>
            <a:spLocks noGrp="1"/>
          </p:cNvSpPr>
          <p:nvPr/>
        </p:nvSpPr>
        <p:spPr>
          <a:xfrm>
            <a:off x="4318000" y="3606800"/>
            <a:ext cx="660400" cy="14224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E73FF6-D106-49C4-B914-ECA661270B47}"/>
              </a:ext>
            </a:extLst>
          </p:cNvPr>
          <p:cNvSpPr>
            <a:spLocks noGrp="1"/>
          </p:cNvSpPr>
          <p:nvPr/>
        </p:nvSpPr>
        <p:spPr>
          <a:xfrm>
            <a:off x="4445000" y="4114800"/>
            <a:ext cx="406400" cy="26161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D4C4E8-291A-4950-8139-51318452E23C}"/>
              </a:ext>
            </a:extLst>
          </p:cNvPr>
          <p:cNvSpPr>
            <a:spLocks noGrp="1"/>
          </p:cNvSpPr>
          <p:nvPr/>
        </p:nvSpPr>
        <p:spPr>
          <a:xfrm>
            <a:off x="5207000" y="3886200"/>
            <a:ext cx="2260600" cy="26161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junit_result.xml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F76B38-3343-4F96-8F68-75DD2512CBC9}"/>
              </a:ext>
            </a:extLst>
          </p:cNvPr>
          <p:cNvSpPr>
            <a:spLocks noGrp="1"/>
          </p:cNvSpPr>
          <p:nvPr/>
        </p:nvSpPr>
        <p:spPr>
          <a:xfrm>
            <a:off x="5207000" y="4368800"/>
            <a:ext cx="2260600" cy="18466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자동화 호환 증적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C209A19-296F-4A2B-B8E6-FCDCC5F402A8}"/>
              </a:ext>
            </a:extLst>
          </p:cNvPr>
          <p:cNvSpPr>
            <a:spLocks noGrp="1"/>
          </p:cNvSpPr>
          <p:nvPr/>
        </p:nvSpPr>
        <p:spPr>
          <a:xfrm>
            <a:off x="8026400" y="3606800"/>
            <a:ext cx="33528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81DEC30-31A9-4DA0-AEFC-B7A286E9E37C}"/>
              </a:ext>
            </a:extLst>
          </p:cNvPr>
          <p:cNvSpPr>
            <a:spLocks noGrp="1"/>
          </p:cNvSpPr>
          <p:nvPr/>
        </p:nvSpPr>
        <p:spPr>
          <a:xfrm>
            <a:off x="8026400" y="3606800"/>
            <a:ext cx="660400" cy="14224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3151E1-DEA3-4569-B0BD-E4C306975752}"/>
              </a:ext>
            </a:extLst>
          </p:cNvPr>
          <p:cNvSpPr>
            <a:spLocks noGrp="1"/>
          </p:cNvSpPr>
          <p:nvPr/>
        </p:nvSpPr>
        <p:spPr>
          <a:xfrm>
            <a:off x="8153400" y="4114800"/>
            <a:ext cx="406400" cy="26161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24E3EF-9F90-45BC-AEF7-0C95EAB192C6}"/>
              </a:ext>
            </a:extLst>
          </p:cNvPr>
          <p:cNvSpPr>
            <a:spLocks noGrp="1"/>
          </p:cNvSpPr>
          <p:nvPr/>
        </p:nvSpPr>
        <p:spPr>
          <a:xfrm>
            <a:off x="8915400" y="3886200"/>
            <a:ext cx="2260600" cy="26161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pytest_report.html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205587-7895-4316-AE66-FB41EB801E0D}"/>
              </a:ext>
            </a:extLst>
          </p:cNvPr>
          <p:cNvSpPr>
            <a:spLocks noGrp="1"/>
          </p:cNvSpPr>
          <p:nvPr/>
        </p:nvSpPr>
        <p:spPr>
          <a:xfrm>
            <a:off x="8915400" y="4368800"/>
            <a:ext cx="2260600" cy="18466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시각화 테스트 보고서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102D8B-8635-483B-8B26-DD923B5B7DEC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0769600" cy="230832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3대 핵심 증적: 독립 Judge 결과 → 평가점수 → 배포판정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E81555-8314-4A2A-9C59-55023826694D}"/>
              </a:ext>
            </a:extLst>
          </p:cNvPr>
          <p:cNvSpPr>
            <a:spLocks noGrp="1"/>
          </p:cNvSpPr>
          <p:nvPr/>
        </p:nvSpPr>
        <p:spPr>
          <a:xfrm>
            <a:off x="609600" y="65024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3팀 LLM Judge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037F00-6D71-4ACE-8D89-DB67B10751F0}"/>
              </a:ext>
            </a:extLst>
          </p:cNvPr>
          <p:cNvSpPr>
            <a:spLocks noGrp="1"/>
          </p:cNvSpPr>
          <p:nvPr/>
        </p:nvSpPr>
        <p:spPr>
          <a:xfrm>
            <a:off x="10414000" y="65024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3590175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B716C77-A59D-4A07-B174-EEB5469CBF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CE62C8-A24E-4362-B60A-94805E96B92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04 · JUDGE RUBRIC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F00564-E9CC-4539-BECB-3FA296739337}"/>
              </a:ext>
            </a:extLst>
          </p:cNvPr>
          <p:cNvSpPr>
            <a:spLocks noGrp="1"/>
          </p:cNvSpPr>
          <p:nvPr/>
        </p:nvSpPr>
        <p:spPr>
          <a:xfrm>
            <a:off x="609600" y="7112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Judge는 9개 품질 항목을 100점으로 평가합니다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90639-BB6B-4134-9695-9A75DEB14885}"/>
              </a:ext>
            </a:extLst>
          </p:cNvPr>
          <p:cNvSpPr>
            <a:spLocks noGrp="1"/>
          </p:cNvSpPr>
          <p:nvPr/>
        </p:nvSpPr>
        <p:spPr>
          <a:xfrm>
            <a:off x="11150600" y="4826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A67129F-E048-4710-93B7-E971790FA8C5}"/>
              </a:ext>
            </a:extLst>
          </p:cNvPr>
          <p:cNvSpPr>
            <a:spLocks noGrp="1"/>
          </p:cNvSpPr>
          <p:nvPr/>
        </p:nvSpPr>
        <p:spPr>
          <a:xfrm>
            <a:off x="609600" y="1778000"/>
            <a:ext cx="52070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73302-F59B-4F38-B5B7-7FA4E696F38B}"/>
              </a:ext>
            </a:extLst>
          </p:cNvPr>
          <p:cNvSpPr>
            <a:spLocks noGrp="1"/>
          </p:cNvSpPr>
          <p:nvPr/>
        </p:nvSpPr>
        <p:spPr>
          <a:xfrm>
            <a:off x="787400" y="19431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235995-9CDB-4DA7-B344-D40A4C96C200}"/>
              </a:ext>
            </a:extLst>
          </p:cNvPr>
          <p:cNvSpPr>
            <a:spLocks noGrp="1"/>
          </p:cNvSpPr>
          <p:nvPr/>
        </p:nvSpPr>
        <p:spPr>
          <a:xfrm>
            <a:off x="1320800" y="1917700"/>
            <a:ext cx="42672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Interpreter 해석 정확성  |  15점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853C9FE-B6BE-4825-88A9-77C5A353D014}"/>
              </a:ext>
            </a:extLst>
          </p:cNvPr>
          <p:cNvSpPr>
            <a:spLocks noGrp="1"/>
          </p:cNvSpPr>
          <p:nvPr/>
        </p:nvSpPr>
        <p:spPr>
          <a:xfrm>
            <a:off x="6375400" y="1778000"/>
            <a:ext cx="52070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C334D8-9D42-4579-9EBA-44F12B0BD5B0}"/>
              </a:ext>
            </a:extLst>
          </p:cNvPr>
          <p:cNvSpPr>
            <a:spLocks noGrp="1"/>
          </p:cNvSpPr>
          <p:nvPr/>
        </p:nvSpPr>
        <p:spPr>
          <a:xfrm>
            <a:off x="6553200" y="19431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CE718C-794D-4201-95BB-B5AD919F962E}"/>
              </a:ext>
            </a:extLst>
          </p:cNvPr>
          <p:cNvSpPr>
            <a:spLocks noGrp="1"/>
          </p:cNvSpPr>
          <p:nvPr/>
        </p:nvSpPr>
        <p:spPr>
          <a:xfrm>
            <a:off x="7086600" y="1917700"/>
            <a:ext cx="42672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Improver 실행 가능성  |  15점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E80D9F7-43AE-4206-88D4-2641116E7704}"/>
              </a:ext>
            </a:extLst>
          </p:cNvPr>
          <p:cNvSpPr>
            <a:spLocks noGrp="1"/>
          </p:cNvSpPr>
          <p:nvPr/>
        </p:nvSpPr>
        <p:spPr>
          <a:xfrm>
            <a:off x="609600" y="2565400"/>
            <a:ext cx="52070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704304-261C-40BC-B943-5F6D9FD1BB2F}"/>
              </a:ext>
            </a:extLst>
          </p:cNvPr>
          <p:cNvSpPr>
            <a:spLocks noGrp="1"/>
          </p:cNvSpPr>
          <p:nvPr/>
        </p:nvSpPr>
        <p:spPr>
          <a:xfrm>
            <a:off x="787400" y="27305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AC6695-0F76-4890-A228-D43686432502}"/>
              </a:ext>
            </a:extLst>
          </p:cNvPr>
          <p:cNvSpPr>
            <a:spLocks noGrp="1"/>
          </p:cNvSpPr>
          <p:nvPr/>
        </p:nvSpPr>
        <p:spPr>
          <a:xfrm>
            <a:off x="1320800" y="2705100"/>
            <a:ext cx="42672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Retriever 검색 관련성  |  15점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4995AAA-2549-4AEE-9F47-9871ED223460}"/>
              </a:ext>
            </a:extLst>
          </p:cNvPr>
          <p:cNvSpPr>
            <a:spLocks noGrp="1"/>
          </p:cNvSpPr>
          <p:nvPr/>
        </p:nvSpPr>
        <p:spPr>
          <a:xfrm>
            <a:off x="6375400" y="2565400"/>
            <a:ext cx="52070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503E04-5770-4A72-B4E8-D4127F205DA1}"/>
              </a:ext>
            </a:extLst>
          </p:cNvPr>
          <p:cNvSpPr>
            <a:spLocks noGrp="1"/>
          </p:cNvSpPr>
          <p:nvPr/>
        </p:nvSpPr>
        <p:spPr>
          <a:xfrm>
            <a:off x="6553200" y="27305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BE9B7A-2A13-4228-9745-BF601564B97B}"/>
              </a:ext>
            </a:extLst>
          </p:cNvPr>
          <p:cNvSpPr>
            <a:spLocks noGrp="1"/>
          </p:cNvSpPr>
          <p:nvPr/>
        </p:nvSpPr>
        <p:spPr>
          <a:xfrm>
            <a:off x="7086600" y="2705100"/>
            <a:ext cx="42672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Agent 연계 품질  |  10점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A7F993D-5474-4B78-A19C-089D68F266FB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52070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E97394-BE18-43EF-AD0B-FEC2D7B1ADEE}"/>
              </a:ext>
            </a:extLst>
          </p:cNvPr>
          <p:cNvSpPr>
            <a:spLocks noGrp="1"/>
          </p:cNvSpPr>
          <p:nvPr/>
        </p:nvSpPr>
        <p:spPr>
          <a:xfrm>
            <a:off x="787400" y="35179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94A6A6-BA19-4347-8F06-AC9FA8B261AB}"/>
              </a:ext>
            </a:extLst>
          </p:cNvPr>
          <p:cNvSpPr>
            <a:spLocks noGrp="1"/>
          </p:cNvSpPr>
          <p:nvPr/>
        </p:nvSpPr>
        <p:spPr>
          <a:xfrm>
            <a:off x="1320800" y="3492500"/>
            <a:ext cx="42672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Summarizer 사실성·요약성  |  15점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FAB3950-AD8E-4A9D-9D17-ED8D8D3927A8}"/>
              </a:ext>
            </a:extLst>
          </p:cNvPr>
          <p:cNvSpPr>
            <a:spLocks noGrp="1"/>
          </p:cNvSpPr>
          <p:nvPr/>
        </p:nvSpPr>
        <p:spPr>
          <a:xfrm>
            <a:off x="6375400" y="3352800"/>
            <a:ext cx="52070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D0BE98-CBB9-40F8-9AAA-250B1067D41E}"/>
              </a:ext>
            </a:extLst>
          </p:cNvPr>
          <p:cNvSpPr>
            <a:spLocks noGrp="1"/>
          </p:cNvSpPr>
          <p:nvPr/>
        </p:nvSpPr>
        <p:spPr>
          <a:xfrm>
            <a:off x="6553200" y="35179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55EC29-F644-43AA-8A22-FCF8497568FA}"/>
              </a:ext>
            </a:extLst>
          </p:cNvPr>
          <p:cNvSpPr>
            <a:spLocks noGrp="1"/>
          </p:cNvSpPr>
          <p:nvPr/>
        </p:nvSpPr>
        <p:spPr>
          <a:xfrm>
            <a:off x="7086600" y="3492500"/>
            <a:ext cx="42672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장애 대응·로그  |  5점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87543C3-7B4C-4B38-B3C7-37C87B69A9D0}"/>
              </a:ext>
            </a:extLst>
          </p:cNvPr>
          <p:cNvSpPr>
            <a:spLocks noGrp="1"/>
          </p:cNvSpPr>
          <p:nvPr/>
        </p:nvSpPr>
        <p:spPr>
          <a:xfrm>
            <a:off x="609600" y="4140200"/>
            <a:ext cx="52070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C6F7EA-F65D-43BA-B69D-C0BAD787FB88}"/>
              </a:ext>
            </a:extLst>
          </p:cNvPr>
          <p:cNvSpPr>
            <a:spLocks noGrp="1"/>
          </p:cNvSpPr>
          <p:nvPr/>
        </p:nvSpPr>
        <p:spPr>
          <a:xfrm>
            <a:off x="787400" y="43053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E08523-C554-4E45-BF4F-3EB695EBC722}"/>
              </a:ext>
            </a:extLst>
          </p:cNvPr>
          <p:cNvSpPr>
            <a:spLocks noGrp="1"/>
          </p:cNvSpPr>
          <p:nvPr/>
        </p:nvSpPr>
        <p:spPr>
          <a:xfrm>
            <a:off x="1320800" y="4279900"/>
            <a:ext cx="42672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Evaluator 평가 타당성  |  10점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8E243A2-F3C8-43BC-8B40-29C808CA1F55}"/>
              </a:ext>
            </a:extLst>
          </p:cNvPr>
          <p:cNvSpPr>
            <a:spLocks noGrp="1"/>
          </p:cNvSpPr>
          <p:nvPr/>
        </p:nvSpPr>
        <p:spPr>
          <a:xfrm>
            <a:off x="6375400" y="4140200"/>
            <a:ext cx="52070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7D594F-9C4D-4767-BF7A-6DD405F93D58}"/>
              </a:ext>
            </a:extLst>
          </p:cNvPr>
          <p:cNvSpPr>
            <a:spLocks noGrp="1"/>
          </p:cNvSpPr>
          <p:nvPr/>
        </p:nvSpPr>
        <p:spPr>
          <a:xfrm>
            <a:off x="6553200" y="43053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1BE08B-EF44-4691-BCAE-1C9922A1D7FF}"/>
              </a:ext>
            </a:extLst>
          </p:cNvPr>
          <p:cNvSpPr>
            <a:spLocks noGrp="1"/>
          </p:cNvSpPr>
          <p:nvPr/>
        </p:nvSpPr>
        <p:spPr>
          <a:xfrm>
            <a:off x="7086600" y="4279900"/>
            <a:ext cx="42672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성능  |  5점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F64EECE-6FF5-4618-88DE-FF88671A0499}"/>
              </a:ext>
            </a:extLst>
          </p:cNvPr>
          <p:cNvSpPr>
            <a:spLocks noGrp="1"/>
          </p:cNvSpPr>
          <p:nvPr/>
        </p:nvSpPr>
        <p:spPr>
          <a:xfrm>
            <a:off x="609600" y="4927600"/>
            <a:ext cx="52070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82B289-661E-49D7-A16D-7C0D6465E7CE}"/>
              </a:ext>
            </a:extLst>
          </p:cNvPr>
          <p:cNvSpPr>
            <a:spLocks noGrp="1"/>
          </p:cNvSpPr>
          <p:nvPr/>
        </p:nvSpPr>
        <p:spPr>
          <a:xfrm>
            <a:off x="787400" y="50927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DA87D2-89F7-4D4C-94E9-C04D8FD3AC37}"/>
              </a:ext>
            </a:extLst>
          </p:cNvPr>
          <p:cNvSpPr>
            <a:spLocks noGrp="1"/>
          </p:cNvSpPr>
          <p:nvPr/>
        </p:nvSpPr>
        <p:spPr>
          <a:xfrm>
            <a:off x="1320800" y="5067300"/>
            <a:ext cx="42672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Critic 위험 탐지력  |  10점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7174BC63-A10C-4691-BAFF-0CE40B735A87}"/>
              </a:ext>
            </a:extLst>
          </p:cNvPr>
          <p:cNvSpPr>
            <a:spLocks noGrp="1"/>
          </p:cNvSpPr>
          <p:nvPr/>
        </p:nvSpPr>
        <p:spPr>
          <a:xfrm>
            <a:off x="6375400" y="4927600"/>
            <a:ext cx="52070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B1C44-776B-4687-AE57-F5DF318B9342}"/>
              </a:ext>
            </a:extLst>
          </p:cNvPr>
          <p:cNvSpPr>
            <a:spLocks noGrp="1"/>
          </p:cNvSpPr>
          <p:nvPr/>
        </p:nvSpPr>
        <p:spPr>
          <a:xfrm>
            <a:off x="6553200" y="5092700"/>
            <a:ext cx="381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B1CF91-18D6-4CA2-B968-A4848BD510E8}"/>
              </a:ext>
            </a:extLst>
          </p:cNvPr>
          <p:cNvSpPr>
            <a:spLocks noGrp="1"/>
          </p:cNvSpPr>
          <p:nvPr/>
        </p:nvSpPr>
        <p:spPr>
          <a:xfrm>
            <a:off x="7086600" y="5067300"/>
            <a:ext cx="42672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중대 위반  |  발생 시 즉시 HOLD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6FBF84-83A0-4C81-B4C7-485518C9C93F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21544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9개 항목 100점 + 중대 위반 0건을 함께 판단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7B9C01-59EE-482C-8C80-A0153571C899}"/>
              </a:ext>
            </a:extLst>
          </p:cNvPr>
          <p:cNvSpPr>
            <a:spLocks noGrp="1"/>
          </p:cNvSpPr>
          <p:nvPr/>
        </p:nvSpPr>
        <p:spPr>
          <a:xfrm>
            <a:off x="609600" y="65024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3팀 LLM Judge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F09209-4B4C-4405-97F4-1190D0CBED9C}"/>
              </a:ext>
            </a:extLst>
          </p:cNvPr>
          <p:cNvSpPr>
            <a:spLocks noGrp="1"/>
          </p:cNvSpPr>
          <p:nvPr/>
        </p:nvSpPr>
        <p:spPr>
          <a:xfrm>
            <a:off x="10414000" y="65024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1931753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0BF157E-5DD7-4232-B843-C56FA41EBA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02C271-784B-4EC4-9E36-558EEF9B174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05 · SCORE &amp; DECISION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D5C3D1-A9FA-4EC8-A6AB-4B24BC305E8C}"/>
              </a:ext>
            </a:extLst>
          </p:cNvPr>
          <p:cNvSpPr>
            <a:spLocks noGrp="1"/>
          </p:cNvSpPr>
          <p:nvPr/>
        </p:nvSpPr>
        <p:spPr>
          <a:xfrm>
            <a:off x="609600" y="7112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낮은 품질 점수가 최종 배포판정을 결정했습니다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FE8D5-3DC4-4668-ACA6-03A62F021280}"/>
              </a:ext>
            </a:extLst>
          </p:cNvPr>
          <p:cNvSpPr>
            <a:spLocks noGrp="1"/>
          </p:cNvSpPr>
          <p:nvPr/>
        </p:nvSpPr>
        <p:spPr>
          <a:xfrm>
            <a:off x="11150600" y="4826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80170D-2078-4D3C-8255-F159EA1150A2}"/>
              </a:ext>
            </a:extLst>
          </p:cNvPr>
          <p:cNvSpPr>
            <a:spLocks noGrp="1"/>
          </p:cNvSpPr>
          <p:nvPr/>
        </p:nvSpPr>
        <p:spPr>
          <a:xfrm>
            <a:off x="609600" y="1778000"/>
            <a:ext cx="1143000" cy="533400"/>
          </a:xfrm>
          <a:prstGeom prst="rect">
            <a:avLst/>
          </a:prstGeom>
          <a:solidFill>
            <a:srgbClr val="0C3460"/>
          </a:solidFill>
          <a:ln>
            <a:solidFill>
              <a:srgbClr val="0C34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EF0242-57CC-4B05-8932-63021E808D47}"/>
              </a:ext>
            </a:extLst>
          </p:cNvPr>
          <p:cNvSpPr>
            <a:spLocks noGrp="1"/>
          </p:cNvSpPr>
          <p:nvPr/>
        </p:nvSpPr>
        <p:spPr>
          <a:xfrm>
            <a:off x="711200" y="1917700"/>
            <a:ext cx="939800" cy="18466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F8B175-CD65-4058-ACCF-8AF3F8F58835}"/>
              </a:ext>
            </a:extLst>
          </p:cNvPr>
          <p:cNvSpPr>
            <a:spLocks noGrp="1"/>
          </p:cNvSpPr>
          <p:nvPr/>
        </p:nvSpPr>
        <p:spPr>
          <a:xfrm>
            <a:off x="1752600" y="1778000"/>
            <a:ext cx="1905000" cy="533400"/>
          </a:xfrm>
          <a:prstGeom prst="rect">
            <a:avLst/>
          </a:prstGeom>
          <a:solidFill>
            <a:srgbClr val="0C3460"/>
          </a:solidFill>
          <a:ln>
            <a:solidFill>
              <a:srgbClr val="0C34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20BA3A-AB0E-4486-B12C-833FF6A44BDE}"/>
              </a:ext>
            </a:extLst>
          </p:cNvPr>
          <p:cNvSpPr>
            <a:spLocks noGrp="1"/>
          </p:cNvSpPr>
          <p:nvPr/>
        </p:nvSpPr>
        <p:spPr>
          <a:xfrm>
            <a:off x="1854200" y="1917700"/>
            <a:ext cx="1701800" cy="18466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평가 증적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543C28-67B4-468A-9692-CBE547F889FE}"/>
              </a:ext>
            </a:extLst>
          </p:cNvPr>
          <p:cNvSpPr>
            <a:spLocks noGrp="1"/>
          </p:cNvSpPr>
          <p:nvPr/>
        </p:nvSpPr>
        <p:spPr>
          <a:xfrm>
            <a:off x="3657600" y="1778000"/>
            <a:ext cx="1905000" cy="533400"/>
          </a:xfrm>
          <a:prstGeom prst="rect">
            <a:avLst/>
          </a:prstGeom>
          <a:solidFill>
            <a:srgbClr val="0C3460"/>
          </a:solidFill>
          <a:ln>
            <a:solidFill>
              <a:srgbClr val="0C34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93D968-D5CE-432A-B72C-3A8C444C6691}"/>
              </a:ext>
            </a:extLst>
          </p:cNvPr>
          <p:cNvSpPr>
            <a:spLocks noGrp="1"/>
          </p:cNvSpPr>
          <p:nvPr/>
        </p:nvSpPr>
        <p:spPr>
          <a:xfrm>
            <a:off x="3759200" y="1917700"/>
            <a:ext cx="1701800" cy="18466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07458C-57CF-4C17-9062-4C36ADA351B2}"/>
              </a:ext>
            </a:extLst>
          </p:cNvPr>
          <p:cNvSpPr>
            <a:spLocks noGrp="1"/>
          </p:cNvSpPr>
          <p:nvPr/>
        </p:nvSpPr>
        <p:spPr>
          <a:xfrm>
            <a:off x="5562600" y="1778000"/>
            <a:ext cx="3302000" cy="533400"/>
          </a:xfrm>
          <a:prstGeom prst="rect">
            <a:avLst/>
          </a:prstGeom>
          <a:solidFill>
            <a:srgbClr val="0C3460"/>
          </a:solidFill>
          <a:ln>
            <a:solidFill>
              <a:srgbClr val="0C34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EC4223-5579-4279-A233-FB14886E548B}"/>
              </a:ext>
            </a:extLst>
          </p:cNvPr>
          <p:cNvSpPr>
            <a:spLocks noGrp="1"/>
          </p:cNvSpPr>
          <p:nvPr/>
        </p:nvSpPr>
        <p:spPr>
          <a:xfrm>
            <a:off x="5664200" y="1917700"/>
            <a:ext cx="3098800" cy="18466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1687EF-211A-4C4E-B0DF-4595D0ACC970}"/>
              </a:ext>
            </a:extLst>
          </p:cNvPr>
          <p:cNvSpPr>
            <a:spLocks noGrp="1"/>
          </p:cNvSpPr>
          <p:nvPr/>
        </p:nvSpPr>
        <p:spPr>
          <a:xfrm>
            <a:off x="8864600" y="1778000"/>
            <a:ext cx="2413000" cy="533400"/>
          </a:xfrm>
          <a:prstGeom prst="rect">
            <a:avLst/>
          </a:prstGeom>
          <a:solidFill>
            <a:srgbClr val="0C3460"/>
          </a:solidFill>
          <a:ln>
            <a:solidFill>
              <a:srgbClr val="0C34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E92744-6A04-4BFD-AB8F-E4C489EDE845}"/>
              </a:ext>
            </a:extLst>
          </p:cNvPr>
          <p:cNvSpPr>
            <a:spLocks noGrp="1"/>
          </p:cNvSpPr>
          <p:nvPr/>
        </p:nvSpPr>
        <p:spPr>
          <a:xfrm>
            <a:off x="8966200" y="1917700"/>
            <a:ext cx="2209800" cy="18466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판정·의미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F25023F-4CF7-42AF-8AF4-7EA49E33644F}"/>
              </a:ext>
            </a:extLst>
          </p:cNvPr>
          <p:cNvSpPr>
            <a:spLocks noGrp="1"/>
          </p:cNvSpPr>
          <p:nvPr/>
        </p:nvSpPr>
        <p:spPr>
          <a:xfrm>
            <a:off x="609600" y="2311400"/>
            <a:ext cx="1143000" cy="711200"/>
          </a:xfrm>
          <a:prstGeom prst="rect">
            <a:avLst/>
          </a:prstGeom>
          <a:solidFill>
            <a:srgbClr val="E8F7F1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BB1E68-BAE6-4C2E-904D-65CFF416C265}"/>
              </a:ext>
            </a:extLst>
          </p:cNvPr>
          <p:cNvSpPr>
            <a:spLocks noGrp="1"/>
          </p:cNvSpPr>
          <p:nvPr/>
        </p:nvSpPr>
        <p:spPr>
          <a:xfrm>
            <a:off x="711200" y="2527300"/>
            <a:ext cx="939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5B2F737-8354-4B11-946E-856E83A6DE24}"/>
              </a:ext>
            </a:extLst>
          </p:cNvPr>
          <p:cNvSpPr>
            <a:spLocks noGrp="1"/>
          </p:cNvSpPr>
          <p:nvPr/>
        </p:nvSpPr>
        <p:spPr>
          <a:xfrm>
            <a:off x="1752600" y="2311400"/>
            <a:ext cx="1905000" cy="711200"/>
          </a:xfrm>
          <a:prstGeom prst="rect">
            <a:avLst/>
          </a:prstGeom>
          <a:solidFill>
            <a:srgbClr val="E8F7F1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DBE5EA-BA57-4913-8F18-990B2BED7051}"/>
              </a:ext>
            </a:extLst>
          </p:cNvPr>
          <p:cNvSpPr>
            <a:spLocks noGrp="1"/>
          </p:cNvSpPr>
          <p:nvPr/>
        </p:nvSpPr>
        <p:spPr>
          <a:xfrm>
            <a:off x="1854200" y="2527300"/>
            <a:ext cx="1701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라이브 E2E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9F3E5E-6FC6-4B3A-8135-9B66480C9ED8}"/>
              </a:ext>
            </a:extLst>
          </p:cNvPr>
          <p:cNvSpPr>
            <a:spLocks noGrp="1"/>
          </p:cNvSpPr>
          <p:nvPr/>
        </p:nvSpPr>
        <p:spPr>
          <a:xfrm>
            <a:off x="3657600" y="2311400"/>
            <a:ext cx="1905000" cy="711200"/>
          </a:xfrm>
          <a:prstGeom prst="rect">
            <a:avLst/>
          </a:prstGeom>
          <a:solidFill>
            <a:srgbClr val="E8F7F1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8FFB79-5430-4D9B-B477-62EA9153DADF}"/>
              </a:ext>
            </a:extLst>
          </p:cNvPr>
          <p:cNvSpPr>
            <a:spLocks noGrp="1"/>
          </p:cNvSpPr>
          <p:nvPr/>
        </p:nvSpPr>
        <p:spPr>
          <a:xfrm>
            <a:off x="3759200" y="2527300"/>
            <a:ext cx="1701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90.6점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9FF97F1-6700-4B74-BC77-A866C1ED9F11}"/>
              </a:ext>
            </a:extLst>
          </p:cNvPr>
          <p:cNvSpPr>
            <a:spLocks noGrp="1"/>
          </p:cNvSpPr>
          <p:nvPr/>
        </p:nvSpPr>
        <p:spPr>
          <a:xfrm>
            <a:off x="5562600" y="2311400"/>
            <a:ext cx="3302000" cy="711200"/>
          </a:xfrm>
          <a:prstGeom prst="rect">
            <a:avLst/>
          </a:prstGeom>
          <a:solidFill>
            <a:srgbClr val="E8F7F1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CC20E7-0BCE-426B-9EA4-344087E48034}"/>
              </a:ext>
            </a:extLst>
          </p:cNvPr>
          <p:cNvSpPr>
            <a:spLocks noGrp="1"/>
          </p:cNvSpPr>
          <p:nvPr/>
        </p:nvSpPr>
        <p:spPr>
          <a:xfrm>
            <a:off x="5664200" y="2527300"/>
            <a:ext cx="3098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95.0점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E93CF6B-8A66-4ED3-9976-8813E9CCD59C}"/>
              </a:ext>
            </a:extLst>
          </p:cNvPr>
          <p:cNvSpPr>
            <a:spLocks noGrp="1"/>
          </p:cNvSpPr>
          <p:nvPr/>
        </p:nvSpPr>
        <p:spPr>
          <a:xfrm>
            <a:off x="8864600" y="2311400"/>
            <a:ext cx="2413000" cy="711200"/>
          </a:xfrm>
          <a:prstGeom prst="rect">
            <a:avLst/>
          </a:prstGeom>
          <a:solidFill>
            <a:srgbClr val="E8F7F1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4FB958-DAF3-4B52-9D12-B4561B135B3F}"/>
              </a:ext>
            </a:extLst>
          </p:cNvPr>
          <p:cNvSpPr>
            <a:spLocks noGrp="1"/>
          </p:cNvSpPr>
          <p:nvPr/>
        </p:nvSpPr>
        <p:spPr>
          <a:xfrm>
            <a:off x="8966200" y="2527300"/>
            <a:ext cx="2209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HOLD · 생성 품질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AD8FF33-374C-4420-93F5-0ECDF0CBEA4F}"/>
              </a:ext>
            </a:extLst>
          </p:cNvPr>
          <p:cNvSpPr>
            <a:spLocks noGrp="1"/>
          </p:cNvSpPr>
          <p:nvPr/>
        </p:nvSpPr>
        <p:spPr>
          <a:xfrm>
            <a:off x="609600" y="3022600"/>
            <a:ext cx="11430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155FF2-28BB-4060-A2E9-A14ACF0F7ABF}"/>
              </a:ext>
            </a:extLst>
          </p:cNvPr>
          <p:cNvSpPr>
            <a:spLocks noGrp="1"/>
          </p:cNvSpPr>
          <p:nvPr/>
        </p:nvSpPr>
        <p:spPr>
          <a:xfrm>
            <a:off x="711200" y="3238500"/>
            <a:ext cx="939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9035AA1-043C-4236-AE0C-E3DBDFD55D30}"/>
              </a:ext>
            </a:extLst>
          </p:cNvPr>
          <p:cNvSpPr>
            <a:spLocks noGrp="1"/>
          </p:cNvSpPr>
          <p:nvPr/>
        </p:nvSpPr>
        <p:spPr>
          <a:xfrm>
            <a:off x="1752600" y="3022600"/>
            <a:ext cx="19050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B3685C-6F56-4FE5-A81B-805C83ABB29B}"/>
              </a:ext>
            </a:extLst>
          </p:cNvPr>
          <p:cNvSpPr>
            <a:spLocks noGrp="1"/>
          </p:cNvSpPr>
          <p:nvPr/>
        </p:nvSpPr>
        <p:spPr>
          <a:xfrm>
            <a:off x="1854200" y="3238500"/>
            <a:ext cx="1701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Anthropic Judge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516E140-9ED1-4E6D-BA77-0EDBFE23C12B}"/>
              </a:ext>
            </a:extLst>
          </p:cNvPr>
          <p:cNvSpPr>
            <a:spLocks noGrp="1"/>
          </p:cNvSpPr>
          <p:nvPr/>
        </p:nvSpPr>
        <p:spPr>
          <a:xfrm>
            <a:off x="3657600" y="3022600"/>
            <a:ext cx="19050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8FACEF-020B-4132-B702-8C7756AD3AF4}"/>
              </a:ext>
            </a:extLst>
          </p:cNvPr>
          <p:cNvSpPr>
            <a:spLocks noGrp="1"/>
          </p:cNvSpPr>
          <p:nvPr/>
        </p:nvSpPr>
        <p:spPr>
          <a:xfrm>
            <a:off x="3759200" y="3238500"/>
            <a:ext cx="1701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89.0점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3946B0B-D186-4600-B7CF-C3D946904C2D}"/>
              </a:ext>
            </a:extLst>
          </p:cNvPr>
          <p:cNvSpPr>
            <a:spLocks noGrp="1"/>
          </p:cNvSpPr>
          <p:nvPr/>
        </p:nvSpPr>
        <p:spPr>
          <a:xfrm>
            <a:off x="5562600" y="3022600"/>
            <a:ext cx="33020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205BC3-59D9-4C6C-B07C-74E788E88EA5}"/>
              </a:ext>
            </a:extLst>
          </p:cNvPr>
          <p:cNvSpPr>
            <a:spLocks noGrp="1"/>
          </p:cNvSpPr>
          <p:nvPr/>
        </p:nvSpPr>
        <p:spPr>
          <a:xfrm>
            <a:off x="5664200" y="3238500"/>
            <a:ext cx="3098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95.0점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904CE78-3CE6-44B7-B083-691590290434}"/>
              </a:ext>
            </a:extLst>
          </p:cNvPr>
          <p:cNvSpPr>
            <a:spLocks noGrp="1"/>
          </p:cNvSpPr>
          <p:nvPr/>
        </p:nvSpPr>
        <p:spPr>
          <a:xfrm>
            <a:off x="8864600" y="3022600"/>
            <a:ext cx="24130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93A691-FF7F-463E-AD4A-2CFE730956F4}"/>
              </a:ext>
            </a:extLst>
          </p:cNvPr>
          <p:cNvSpPr>
            <a:spLocks noGrp="1"/>
          </p:cNvSpPr>
          <p:nvPr/>
        </p:nvSpPr>
        <p:spPr>
          <a:xfrm>
            <a:off x="8966200" y="3238500"/>
            <a:ext cx="2209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HOLD · 독립 평가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209E644-87C0-4545-A096-C198D5623718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1143000" cy="711200"/>
          </a:xfrm>
          <a:prstGeom prst="rect">
            <a:avLst/>
          </a:prstGeom>
          <a:solidFill>
            <a:srgbClr val="F1F6FC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381468-5A16-4A6C-851F-1C5264A62958}"/>
              </a:ext>
            </a:extLst>
          </p:cNvPr>
          <p:cNvSpPr>
            <a:spLocks noGrp="1"/>
          </p:cNvSpPr>
          <p:nvPr/>
        </p:nvSpPr>
        <p:spPr>
          <a:xfrm>
            <a:off x="711200" y="3949700"/>
            <a:ext cx="939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C2D8B36-EF40-4C02-853D-B983994E868A}"/>
              </a:ext>
            </a:extLst>
          </p:cNvPr>
          <p:cNvSpPr>
            <a:spLocks noGrp="1"/>
          </p:cNvSpPr>
          <p:nvPr/>
        </p:nvSpPr>
        <p:spPr>
          <a:xfrm>
            <a:off x="1752600" y="3733800"/>
            <a:ext cx="1905000" cy="711200"/>
          </a:xfrm>
          <a:prstGeom prst="rect">
            <a:avLst/>
          </a:prstGeom>
          <a:solidFill>
            <a:srgbClr val="F1F6FC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F7FF2B-3113-4429-A6D9-78D5AACB21A7}"/>
              </a:ext>
            </a:extLst>
          </p:cNvPr>
          <p:cNvSpPr>
            <a:spLocks noGrp="1"/>
          </p:cNvSpPr>
          <p:nvPr/>
        </p:nvSpPr>
        <p:spPr>
          <a:xfrm>
            <a:off x="1854200" y="3949700"/>
            <a:ext cx="1701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중대 위반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917204-971A-46E4-B7F4-E6C76BF70161}"/>
              </a:ext>
            </a:extLst>
          </p:cNvPr>
          <p:cNvSpPr>
            <a:spLocks noGrp="1"/>
          </p:cNvSpPr>
          <p:nvPr/>
        </p:nvSpPr>
        <p:spPr>
          <a:xfrm>
            <a:off x="3657600" y="3733800"/>
            <a:ext cx="1905000" cy="711200"/>
          </a:xfrm>
          <a:prstGeom prst="rect">
            <a:avLst/>
          </a:prstGeom>
          <a:solidFill>
            <a:srgbClr val="F1F6FC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918787-CADF-4850-8234-3608121A26F6}"/>
              </a:ext>
            </a:extLst>
          </p:cNvPr>
          <p:cNvSpPr>
            <a:spLocks noGrp="1"/>
          </p:cNvSpPr>
          <p:nvPr/>
        </p:nvSpPr>
        <p:spPr>
          <a:xfrm>
            <a:off x="3759200" y="3949700"/>
            <a:ext cx="1701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0A5CC18-E107-47E2-81E3-E73D97057F0C}"/>
              </a:ext>
            </a:extLst>
          </p:cNvPr>
          <p:cNvSpPr>
            <a:spLocks noGrp="1"/>
          </p:cNvSpPr>
          <p:nvPr/>
        </p:nvSpPr>
        <p:spPr>
          <a:xfrm>
            <a:off x="5562600" y="3733800"/>
            <a:ext cx="3302000" cy="711200"/>
          </a:xfrm>
          <a:prstGeom prst="rect">
            <a:avLst/>
          </a:prstGeom>
          <a:solidFill>
            <a:srgbClr val="F1F6FC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3D5123-C42E-4871-9487-76F29B3307BD}"/>
              </a:ext>
            </a:extLst>
          </p:cNvPr>
          <p:cNvSpPr>
            <a:spLocks noGrp="1"/>
          </p:cNvSpPr>
          <p:nvPr/>
        </p:nvSpPr>
        <p:spPr>
          <a:xfrm>
            <a:off x="5664200" y="3949700"/>
            <a:ext cx="3098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91CD1CE-4856-418F-9656-FB8F3D56D354}"/>
              </a:ext>
            </a:extLst>
          </p:cNvPr>
          <p:cNvSpPr>
            <a:spLocks noGrp="1"/>
          </p:cNvSpPr>
          <p:nvPr/>
        </p:nvSpPr>
        <p:spPr>
          <a:xfrm>
            <a:off x="8864600" y="3733800"/>
            <a:ext cx="2413000" cy="711200"/>
          </a:xfrm>
          <a:prstGeom prst="rect">
            <a:avLst/>
          </a:prstGeom>
          <a:solidFill>
            <a:srgbClr val="F1F6FC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93D150-9735-49E1-B4EC-BC62CB479096}"/>
              </a:ext>
            </a:extLst>
          </p:cNvPr>
          <p:cNvSpPr>
            <a:spLocks noGrp="1"/>
          </p:cNvSpPr>
          <p:nvPr/>
        </p:nvSpPr>
        <p:spPr>
          <a:xfrm>
            <a:off x="8966200" y="3949700"/>
            <a:ext cx="2209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PASS · 즉시 보류 없음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3914E66-0346-4EF8-B0F2-CEBCEF46C40C}"/>
              </a:ext>
            </a:extLst>
          </p:cNvPr>
          <p:cNvSpPr>
            <a:spLocks noGrp="1"/>
          </p:cNvSpPr>
          <p:nvPr/>
        </p:nvSpPr>
        <p:spPr>
          <a:xfrm>
            <a:off x="609600" y="4445000"/>
            <a:ext cx="11430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92C3F7-97C8-4CE0-BB3D-C3CD1242E99E}"/>
              </a:ext>
            </a:extLst>
          </p:cNvPr>
          <p:cNvSpPr>
            <a:spLocks noGrp="1"/>
          </p:cNvSpPr>
          <p:nvPr/>
        </p:nvSpPr>
        <p:spPr>
          <a:xfrm>
            <a:off x="711200" y="4660900"/>
            <a:ext cx="939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D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DE53E64-3775-485A-AF78-D9CC77FED7FE}"/>
              </a:ext>
            </a:extLst>
          </p:cNvPr>
          <p:cNvSpPr>
            <a:spLocks noGrp="1"/>
          </p:cNvSpPr>
          <p:nvPr/>
        </p:nvSpPr>
        <p:spPr>
          <a:xfrm>
            <a:off x="1752600" y="4445000"/>
            <a:ext cx="19050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06C52B-5934-4FA2-9E2D-120DC49E2ADD}"/>
              </a:ext>
            </a:extLst>
          </p:cNvPr>
          <p:cNvSpPr>
            <a:spLocks noGrp="1"/>
          </p:cNvSpPr>
          <p:nvPr/>
        </p:nvSpPr>
        <p:spPr>
          <a:xfrm>
            <a:off x="1854200" y="4660900"/>
            <a:ext cx="1701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통합 점수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4A8E163-4F3A-4218-ADBE-C13B7D5947AB}"/>
              </a:ext>
            </a:extLst>
          </p:cNvPr>
          <p:cNvSpPr>
            <a:spLocks noGrp="1"/>
          </p:cNvSpPr>
          <p:nvPr/>
        </p:nvSpPr>
        <p:spPr>
          <a:xfrm>
            <a:off x="3657600" y="4445000"/>
            <a:ext cx="19050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6ADDDA-5305-4204-8B97-4D28E01DA902}"/>
              </a:ext>
            </a:extLst>
          </p:cNvPr>
          <p:cNvSpPr>
            <a:spLocks noGrp="1"/>
          </p:cNvSpPr>
          <p:nvPr/>
        </p:nvSpPr>
        <p:spPr>
          <a:xfrm>
            <a:off x="3759200" y="4660900"/>
            <a:ext cx="1701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89.0점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A2AC80B-E09D-4CE4-9634-5B6A9929971F}"/>
              </a:ext>
            </a:extLst>
          </p:cNvPr>
          <p:cNvSpPr>
            <a:spLocks noGrp="1"/>
          </p:cNvSpPr>
          <p:nvPr/>
        </p:nvSpPr>
        <p:spPr>
          <a:xfrm>
            <a:off x="5562600" y="4445000"/>
            <a:ext cx="33020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F0E3770-BE65-4AA2-8E86-620CEA3D7489}"/>
              </a:ext>
            </a:extLst>
          </p:cNvPr>
          <p:cNvSpPr>
            <a:spLocks noGrp="1"/>
          </p:cNvSpPr>
          <p:nvPr/>
        </p:nvSpPr>
        <p:spPr>
          <a:xfrm>
            <a:off x="5664200" y="4660900"/>
            <a:ext cx="3098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95.0점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FCA5F14-9568-41AA-90BC-6C2029697C77}"/>
              </a:ext>
            </a:extLst>
          </p:cNvPr>
          <p:cNvSpPr>
            <a:spLocks noGrp="1"/>
          </p:cNvSpPr>
          <p:nvPr/>
        </p:nvSpPr>
        <p:spPr>
          <a:xfrm>
            <a:off x="8864600" y="4445000"/>
            <a:ext cx="24130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EE3A1FB-709F-43FD-9A75-F27B569D1E4A}"/>
              </a:ext>
            </a:extLst>
          </p:cNvPr>
          <p:cNvSpPr>
            <a:spLocks noGrp="1"/>
          </p:cNvSpPr>
          <p:nvPr/>
        </p:nvSpPr>
        <p:spPr>
          <a:xfrm>
            <a:off x="8966200" y="4660900"/>
            <a:ext cx="22098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HOLD · 낮은 증적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771EEFE0-A0CA-4852-AFFF-A5E25CD8C3D8}"/>
              </a:ext>
            </a:extLst>
          </p:cNvPr>
          <p:cNvSpPr>
            <a:spLocks noGrp="1"/>
          </p:cNvSpPr>
          <p:nvPr/>
        </p:nvSpPr>
        <p:spPr>
          <a:xfrm>
            <a:off x="609600" y="5435600"/>
            <a:ext cx="10668000" cy="609600"/>
          </a:xfrm>
          <a:prstGeom prst="roundRect">
            <a:avLst/>
          </a:prstGeom>
          <a:solidFill>
            <a:srgbClr val="FFF6E2"/>
          </a:solidFill>
          <a:ln>
            <a:solidFill>
              <a:srgbClr val="F4CF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5C666A-FE64-45A1-BC4E-DAA5FFE1809E}"/>
              </a:ext>
            </a:extLst>
          </p:cNvPr>
          <p:cNvSpPr>
            <a:spLocks noGrp="1"/>
          </p:cNvSpPr>
          <p:nvPr/>
        </p:nvSpPr>
        <p:spPr>
          <a:xfrm>
            <a:off x="863600" y="5613400"/>
            <a:ext cx="101600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최종 판정: 자동 테스트 PASS라도 Judge 89점 &lt; 95점이므로 배포 보류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9177974-87FD-48F2-A1D5-2C17A4B3EE39}"/>
              </a:ext>
            </a:extLst>
          </p:cNvPr>
          <p:cNvSpPr>
            <a:spLocks noGrp="1"/>
          </p:cNvSpPr>
          <p:nvPr/>
        </p:nvSpPr>
        <p:spPr>
          <a:xfrm>
            <a:off x="609600" y="65024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3팀 LLM Judge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EDD5C45-2D5E-424B-A507-1B7AB8D4E95C}"/>
              </a:ext>
            </a:extLst>
          </p:cNvPr>
          <p:cNvSpPr>
            <a:spLocks noGrp="1"/>
          </p:cNvSpPr>
          <p:nvPr/>
        </p:nvSpPr>
        <p:spPr>
          <a:xfrm>
            <a:off x="10414000" y="65024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2079295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FAD7598-6BAD-42CF-A2FC-A8A4B1E212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8BF78-4D21-4536-BA50-66E29557F9D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06 · JUDGE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3324F-39FA-437F-96D3-74A6216CE4A3}"/>
              </a:ext>
            </a:extLst>
          </p:cNvPr>
          <p:cNvSpPr>
            <a:spLocks noGrp="1"/>
          </p:cNvSpPr>
          <p:nvPr/>
        </p:nvSpPr>
        <p:spPr>
          <a:xfrm>
            <a:off x="609600" y="7112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성공 건수보다 낮은 품질 점수가 배포판정을 결정했습니다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AA48D3-851B-44C8-B9A5-59C10A4387F6}"/>
              </a:ext>
            </a:extLst>
          </p:cNvPr>
          <p:cNvSpPr>
            <a:spLocks noGrp="1"/>
          </p:cNvSpPr>
          <p:nvPr/>
        </p:nvSpPr>
        <p:spPr>
          <a:xfrm>
            <a:off x="11150600" y="4826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2D74857-412D-451E-A4EC-658BE417C3A0}"/>
              </a:ext>
            </a:extLst>
          </p:cNvPr>
          <p:cNvSpPr>
            <a:spLocks noGrp="1"/>
          </p:cNvSpPr>
          <p:nvPr/>
        </p:nvSpPr>
        <p:spPr>
          <a:xfrm>
            <a:off x="609600" y="1727200"/>
            <a:ext cx="2514600" cy="11176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BD87E5B-5243-4F11-A911-45D16197DE9D}"/>
              </a:ext>
            </a:extLst>
          </p:cNvPr>
          <p:cNvSpPr>
            <a:spLocks noGrp="1"/>
          </p:cNvSpPr>
          <p:nvPr/>
        </p:nvSpPr>
        <p:spPr>
          <a:xfrm>
            <a:off x="609600" y="1727200"/>
            <a:ext cx="76200" cy="1117600"/>
          </a:xfrm>
          <a:prstGeom prst="rect">
            <a:avLst/>
          </a:prstGeom>
          <a:solidFill>
            <a:srgbClr val="14845C"/>
          </a:solidFill>
          <a:ln>
            <a:solidFill>
              <a:srgbClr val="1484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D10DF-E3EE-4A7C-A507-5E44DF51AE02}"/>
              </a:ext>
            </a:extLst>
          </p:cNvPr>
          <p:cNvSpPr>
            <a:spLocks noGrp="1"/>
          </p:cNvSpPr>
          <p:nvPr/>
        </p:nvSpPr>
        <p:spPr>
          <a:xfrm>
            <a:off x="863600" y="1917700"/>
            <a:ext cx="2133600" cy="3847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18/18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564145-9274-428B-A071-03C52A43B1F6}"/>
              </a:ext>
            </a:extLst>
          </p:cNvPr>
          <p:cNvSpPr>
            <a:spLocks noGrp="1"/>
          </p:cNvSpPr>
          <p:nvPr/>
        </p:nvSpPr>
        <p:spPr>
          <a:xfrm>
            <a:off x="863600" y="2413000"/>
            <a:ext cx="21336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라이브 E2E PASS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BC2BC24-5000-42A9-8008-CC4370D20490}"/>
              </a:ext>
            </a:extLst>
          </p:cNvPr>
          <p:cNvSpPr>
            <a:spLocks noGrp="1"/>
          </p:cNvSpPr>
          <p:nvPr/>
        </p:nvSpPr>
        <p:spPr>
          <a:xfrm>
            <a:off x="3327400" y="1727200"/>
            <a:ext cx="2514600" cy="11176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47EBD8-688E-466F-BA6F-C938F069C7FD}"/>
              </a:ext>
            </a:extLst>
          </p:cNvPr>
          <p:cNvSpPr>
            <a:spLocks noGrp="1"/>
          </p:cNvSpPr>
          <p:nvPr/>
        </p:nvSpPr>
        <p:spPr>
          <a:xfrm>
            <a:off x="3327400" y="1727200"/>
            <a:ext cx="76200" cy="1117600"/>
          </a:xfrm>
          <a:prstGeom prst="rect">
            <a:avLst/>
          </a:prstGeom>
          <a:solidFill>
            <a:srgbClr val="14845C"/>
          </a:solidFill>
          <a:ln>
            <a:solidFill>
              <a:srgbClr val="1484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BA415C-CFED-41E4-852B-1E34F3619CE2}"/>
              </a:ext>
            </a:extLst>
          </p:cNvPr>
          <p:cNvSpPr>
            <a:spLocks noGrp="1"/>
          </p:cNvSpPr>
          <p:nvPr/>
        </p:nvSpPr>
        <p:spPr>
          <a:xfrm>
            <a:off x="3581400" y="1917700"/>
            <a:ext cx="2133600" cy="3847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90.6점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DB0A26-4E01-4BB1-8D3B-1CC9235AF08B}"/>
              </a:ext>
            </a:extLst>
          </p:cNvPr>
          <p:cNvSpPr>
            <a:spLocks noGrp="1"/>
          </p:cNvSpPr>
          <p:nvPr/>
        </p:nvSpPr>
        <p:spPr>
          <a:xfrm>
            <a:off x="3581400" y="2413000"/>
            <a:ext cx="21336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라이브 E2E 평균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A16D962-C5EA-4455-B4E5-815BBE0CCAAC}"/>
              </a:ext>
            </a:extLst>
          </p:cNvPr>
          <p:cNvSpPr>
            <a:spLocks noGrp="1"/>
          </p:cNvSpPr>
          <p:nvPr/>
        </p:nvSpPr>
        <p:spPr>
          <a:xfrm>
            <a:off x="6045200" y="1727200"/>
            <a:ext cx="2514600" cy="11176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0082130-BB31-4EB8-A439-9232D7E869CC}"/>
              </a:ext>
            </a:extLst>
          </p:cNvPr>
          <p:cNvSpPr>
            <a:spLocks noGrp="1"/>
          </p:cNvSpPr>
          <p:nvPr/>
        </p:nvSpPr>
        <p:spPr>
          <a:xfrm>
            <a:off x="6045200" y="1727200"/>
            <a:ext cx="76200" cy="1117600"/>
          </a:xfrm>
          <a:prstGeom prst="rect">
            <a:avLst/>
          </a:prstGeom>
          <a:solidFill>
            <a:srgbClr val="14845C"/>
          </a:solidFill>
          <a:ln>
            <a:solidFill>
              <a:srgbClr val="1484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A6CA96-636D-46F6-ACD4-16F9C8A69DDC}"/>
              </a:ext>
            </a:extLst>
          </p:cNvPr>
          <p:cNvSpPr>
            <a:spLocks noGrp="1"/>
          </p:cNvSpPr>
          <p:nvPr/>
        </p:nvSpPr>
        <p:spPr>
          <a:xfrm>
            <a:off x="6299200" y="1917700"/>
            <a:ext cx="2133600" cy="3847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89.0점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41A6BF-D0EA-46F5-80E4-456699873DA5}"/>
              </a:ext>
            </a:extLst>
          </p:cNvPr>
          <p:cNvSpPr>
            <a:spLocks noGrp="1"/>
          </p:cNvSpPr>
          <p:nvPr/>
        </p:nvSpPr>
        <p:spPr>
          <a:xfrm>
            <a:off x="6299200" y="2413000"/>
            <a:ext cx="21336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Anthropic Judge 평균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AB7F112-6F4C-406D-918C-2F63EE4440E9}"/>
              </a:ext>
            </a:extLst>
          </p:cNvPr>
          <p:cNvSpPr>
            <a:spLocks noGrp="1"/>
          </p:cNvSpPr>
          <p:nvPr/>
        </p:nvSpPr>
        <p:spPr>
          <a:xfrm>
            <a:off x="8763000" y="1727200"/>
            <a:ext cx="2514600" cy="11176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562EE91-E45F-41E5-941A-FBA8E05BCA4D}"/>
              </a:ext>
            </a:extLst>
          </p:cNvPr>
          <p:cNvSpPr>
            <a:spLocks noGrp="1"/>
          </p:cNvSpPr>
          <p:nvPr/>
        </p:nvSpPr>
        <p:spPr>
          <a:xfrm>
            <a:off x="8763000" y="1727200"/>
            <a:ext cx="76200" cy="1117600"/>
          </a:xfrm>
          <a:prstGeom prst="rect">
            <a:avLst/>
          </a:prstGeom>
          <a:solidFill>
            <a:srgbClr val="14845C"/>
          </a:solidFill>
          <a:ln>
            <a:solidFill>
              <a:srgbClr val="1484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CA2C36-CCE2-488E-9DDA-26ECC797B59C}"/>
              </a:ext>
            </a:extLst>
          </p:cNvPr>
          <p:cNvSpPr>
            <a:spLocks noGrp="1"/>
          </p:cNvSpPr>
          <p:nvPr/>
        </p:nvSpPr>
        <p:spPr>
          <a:xfrm>
            <a:off x="9017000" y="1917700"/>
            <a:ext cx="2133600" cy="3847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21D15F-9947-4D0D-807C-AC8FD49C887C}"/>
              </a:ext>
            </a:extLst>
          </p:cNvPr>
          <p:cNvSpPr>
            <a:spLocks noGrp="1"/>
          </p:cNvSpPr>
          <p:nvPr/>
        </p:nvSpPr>
        <p:spPr>
          <a:xfrm>
            <a:off x="9017000" y="2413000"/>
            <a:ext cx="21336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Judge 중대 위반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5663C0E-733D-4CEB-ADE5-D596A9511B0F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2514600" cy="11176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033EFFA-D33C-4966-B5FF-C1189BBDEA3E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76200" cy="1117600"/>
          </a:xfrm>
          <a:prstGeom prst="rect">
            <a:avLst/>
          </a:prstGeom>
          <a:solidFill>
            <a:srgbClr val="14845C"/>
          </a:solidFill>
          <a:ln>
            <a:solidFill>
              <a:srgbClr val="1484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B296E8-9F6D-43F8-AF2F-2A82D3A83B8B}"/>
              </a:ext>
            </a:extLst>
          </p:cNvPr>
          <p:cNvSpPr>
            <a:spLocks noGrp="1"/>
          </p:cNvSpPr>
          <p:nvPr/>
        </p:nvSpPr>
        <p:spPr>
          <a:xfrm>
            <a:off x="863600" y="3314700"/>
            <a:ext cx="2133600" cy="3847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95점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451EE4-16F6-471D-A5AB-07952AA921CA}"/>
              </a:ext>
            </a:extLst>
          </p:cNvPr>
          <p:cNvSpPr>
            <a:spLocks noGrp="1"/>
          </p:cNvSpPr>
          <p:nvPr/>
        </p:nvSpPr>
        <p:spPr>
          <a:xfrm>
            <a:off x="863600" y="3810000"/>
            <a:ext cx="21336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배포 승인 기준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347973B-DB58-4238-8877-1BDADA4A0817}"/>
              </a:ext>
            </a:extLst>
          </p:cNvPr>
          <p:cNvSpPr>
            <a:spLocks noGrp="1"/>
          </p:cNvSpPr>
          <p:nvPr/>
        </p:nvSpPr>
        <p:spPr>
          <a:xfrm>
            <a:off x="3327400" y="3124200"/>
            <a:ext cx="2514600" cy="11176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1467249-7464-441C-BAC4-00EEC14FA54F}"/>
              </a:ext>
            </a:extLst>
          </p:cNvPr>
          <p:cNvSpPr>
            <a:spLocks noGrp="1"/>
          </p:cNvSpPr>
          <p:nvPr/>
        </p:nvSpPr>
        <p:spPr>
          <a:xfrm>
            <a:off x="3327400" y="3124200"/>
            <a:ext cx="76200" cy="1117600"/>
          </a:xfrm>
          <a:prstGeom prst="rect">
            <a:avLst/>
          </a:prstGeom>
          <a:solidFill>
            <a:srgbClr val="1F65AE"/>
          </a:solidFill>
          <a:ln>
            <a:solidFill>
              <a:srgbClr val="1F6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B5DDDF-2FDB-40A1-B338-6BF3F6BEC39A}"/>
              </a:ext>
            </a:extLst>
          </p:cNvPr>
          <p:cNvSpPr>
            <a:spLocks noGrp="1"/>
          </p:cNvSpPr>
          <p:nvPr/>
        </p:nvSpPr>
        <p:spPr>
          <a:xfrm>
            <a:off x="3581400" y="3314700"/>
            <a:ext cx="2133600" cy="3847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5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6.0점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7B22E8-5666-4C4A-B1C6-95559FCE63B9}"/>
              </a:ext>
            </a:extLst>
          </p:cNvPr>
          <p:cNvSpPr>
            <a:spLocks noGrp="1"/>
          </p:cNvSpPr>
          <p:nvPr/>
        </p:nvSpPr>
        <p:spPr>
          <a:xfrm>
            <a:off x="3581400" y="3810000"/>
            <a:ext cx="21336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Judge 기준 미달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FD9AE25-98D9-4FEF-AA5A-C4296E483EC1}"/>
              </a:ext>
            </a:extLst>
          </p:cNvPr>
          <p:cNvSpPr>
            <a:spLocks noGrp="1"/>
          </p:cNvSpPr>
          <p:nvPr/>
        </p:nvSpPr>
        <p:spPr>
          <a:xfrm>
            <a:off x="6045200" y="3124200"/>
            <a:ext cx="2514600" cy="11176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451609-C8BF-45A6-861A-D75D119801AE}"/>
              </a:ext>
            </a:extLst>
          </p:cNvPr>
          <p:cNvSpPr>
            <a:spLocks noGrp="1"/>
          </p:cNvSpPr>
          <p:nvPr/>
        </p:nvSpPr>
        <p:spPr>
          <a:xfrm>
            <a:off x="6045200" y="3124200"/>
            <a:ext cx="76200" cy="1117600"/>
          </a:xfrm>
          <a:prstGeom prst="rect">
            <a:avLst/>
          </a:prstGeom>
          <a:solidFill>
            <a:srgbClr val="1F65AE"/>
          </a:solidFill>
          <a:ln>
            <a:solidFill>
              <a:srgbClr val="1F65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059B2C-A0F5-466F-AFEC-D0BB6E786195}"/>
              </a:ext>
            </a:extLst>
          </p:cNvPr>
          <p:cNvSpPr>
            <a:spLocks noGrp="1"/>
          </p:cNvSpPr>
          <p:nvPr/>
        </p:nvSpPr>
        <p:spPr>
          <a:xfrm>
            <a:off x="6299200" y="3314700"/>
            <a:ext cx="2133600" cy="3847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5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HOLD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520706-21DD-4EF7-B5D2-92C23F4707E9}"/>
              </a:ext>
            </a:extLst>
          </p:cNvPr>
          <p:cNvSpPr>
            <a:spLocks noGrp="1"/>
          </p:cNvSpPr>
          <p:nvPr/>
        </p:nvSpPr>
        <p:spPr>
          <a:xfrm>
            <a:off x="6299200" y="3810000"/>
            <a:ext cx="21336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최종 배포판정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10A233D-F180-4F1D-9B3D-6869874C0BE2}"/>
              </a:ext>
            </a:extLst>
          </p:cNvPr>
          <p:cNvSpPr>
            <a:spLocks noGrp="1"/>
          </p:cNvSpPr>
          <p:nvPr/>
        </p:nvSpPr>
        <p:spPr>
          <a:xfrm>
            <a:off x="8763000" y="3124200"/>
            <a:ext cx="2514600" cy="11176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FBCE7BC-6AE6-47F0-87C2-BB0A2539FA31}"/>
              </a:ext>
            </a:extLst>
          </p:cNvPr>
          <p:cNvSpPr>
            <a:spLocks noGrp="1"/>
          </p:cNvSpPr>
          <p:nvPr/>
        </p:nvSpPr>
        <p:spPr>
          <a:xfrm>
            <a:off x="8763000" y="3124200"/>
            <a:ext cx="76200" cy="1117600"/>
          </a:xfrm>
          <a:prstGeom prst="rect">
            <a:avLst/>
          </a:prstGeom>
          <a:solidFill>
            <a:srgbClr val="EBA623"/>
          </a:solidFill>
          <a:ln>
            <a:solidFill>
              <a:srgbClr val="EB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2C3636-8536-4941-9CCA-ECB6A8DC6CB5}"/>
              </a:ext>
            </a:extLst>
          </p:cNvPr>
          <p:cNvSpPr>
            <a:spLocks noGrp="1"/>
          </p:cNvSpPr>
          <p:nvPr/>
        </p:nvSpPr>
        <p:spPr>
          <a:xfrm>
            <a:off x="9017000" y="3314700"/>
            <a:ext cx="2133600" cy="3847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5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3종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9D0D8D-EC4D-4B2F-8B71-034967FAB27C}"/>
              </a:ext>
            </a:extLst>
          </p:cNvPr>
          <p:cNvSpPr>
            <a:spLocks noGrp="1"/>
          </p:cNvSpPr>
          <p:nvPr/>
        </p:nvSpPr>
        <p:spPr>
          <a:xfrm>
            <a:off x="9017000" y="3810000"/>
            <a:ext cx="21336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Judge 핵심 증적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27A510A-1AC1-4786-9D6D-F432F67366DB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10668000" cy="939800"/>
          </a:xfrm>
          <a:prstGeom prst="roundRect">
            <a:avLst/>
          </a:prstGeom>
          <a:solidFill>
            <a:srgbClr val="E8F2FC"/>
          </a:solidFill>
          <a:ln>
            <a:solidFill>
              <a:srgbClr val="B5D3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9EED99-4FA6-4779-B10F-AB88B03AD7AD}"/>
              </a:ext>
            </a:extLst>
          </p:cNvPr>
          <p:cNvSpPr>
            <a:spLocks noGrp="1"/>
          </p:cNvSpPr>
          <p:nvPr/>
        </p:nvSpPr>
        <p:spPr>
          <a:xfrm>
            <a:off x="889000" y="5029200"/>
            <a:ext cx="10109200" cy="292388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9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낮은 증적 기준: min(90.6, 89.0) = 89.0 → HOLD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52B1DE-E887-4B2D-83E7-BFC63D993ACA}"/>
              </a:ext>
            </a:extLst>
          </p:cNvPr>
          <p:cNvSpPr>
            <a:spLocks noGrp="1"/>
          </p:cNvSpPr>
          <p:nvPr/>
        </p:nvSpPr>
        <p:spPr>
          <a:xfrm>
            <a:off x="889000" y="5410200"/>
            <a:ext cx="10109200" cy="153888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0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증적 기준: 2026-07-16 Judge·점수·배포판정 파일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FA6B1C-32FF-489B-89D3-C6CF5617E590}"/>
              </a:ext>
            </a:extLst>
          </p:cNvPr>
          <p:cNvSpPr>
            <a:spLocks noGrp="1"/>
          </p:cNvSpPr>
          <p:nvPr/>
        </p:nvSpPr>
        <p:spPr>
          <a:xfrm>
            <a:off x="609600" y="65024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3팀 LLM Judge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FB1562-72FE-44DE-B199-D663D82A61C3}"/>
              </a:ext>
            </a:extLst>
          </p:cNvPr>
          <p:cNvSpPr>
            <a:spLocks noGrp="1"/>
          </p:cNvSpPr>
          <p:nvPr/>
        </p:nvSpPr>
        <p:spPr>
          <a:xfrm>
            <a:off x="10414000" y="65024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650817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4D728EF-731A-4247-9A01-6C138727A1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A59C69-9E69-4CCF-BC69-A9F57E0D6B2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07 · AWS EVIDENCE GATE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85D2D5-F65D-4322-8B2E-E026A8996332}"/>
              </a:ext>
            </a:extLst>
          </p:cNvPr>
          <p:cNvSpPr>
            <a:spLocks noGrp="1"/>
          </p:cNvSpPr>
          <p:nvPr/>
        </p:nvSpPr>
        <p:spPr>
          <a:xfrm>
            <a:off x="609600" y="7112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Judge 3대 증적을 저장·조회·감사·삭제합니다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8C0F7-B035-4662-8FAD-B300A5DB41CA}"/>
              </a:ext>
            </a:extLst>
          </p:cNvPr>
          <p:cNvSpPr>
            <a:spLocks noGrp="1"/>
          </p:cNvSpPr>
          <p:nvPr/>
        </p:nvSpPr>
        <p:spPr>
          <a:xfrm>
            <a:off x="11150600" y="4826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4A02281-03B3-428A-908A-C16F661FC4F9}"/>
              </a:ext>
            </a:extLst>
          </p:cNvPr>
          <p:cNvSpPr>
            <a:spLocks noGrp="1"/>
          </p:cNvSpPr>
          <p:nvPr/>
        </p:nvSpPr>
        <p:spPr>
          <a:xfrm>
            <a:off x="609600" y="1778000"/>
            <a:ext cx="7493000" cy="7112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3689CF-475F-417B-A077-905D0C58B3B7}"/>
              </a:ext>
            </a:extLst>
          </p:cNvPr>
          <p:cNvSpPr>
            <a:spLocks noGrp="1"/>
          </p:cNvSpPr>
          <p:nvPr/>
        </p:nvSpPr>
        <p:spPr>
          <a:xfrm>
            <a:off x="863600" y="1981200"/>
            <a:ext cx="2159000" cy="21544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S3 생성·업로드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66F1B8-24FB-4353-BABC-ADFB78279A6B}"/>
              </a:ext>
            </a:extLst>
          </p:cNvPr>
          <p:cNvSpPr>
            <a:spLocks noGrp="1"/>
          </p:cNvSpPr>
          <p:nvPr/>
        </p:nvSpPr>
        <p:spPr>
          <a:xfrm>
            <a:off x="3175000" y="1981200"/>
            <a:ext cx="1270000" cy="39624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create-bucket · sync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98EDFD-8A43-4BFA-8A05-8DE10FF344D5}"/>
              </a:ext>
            </a:extLst>
          </p:cNvPr>
          <p:cNvSpPr>
            <a:spLocks noGrp="1"/>
          </p:cNvSpPr>
          <p:nvPr/>
        </p:nvSpPr>
        <p:spPr>
          <a:xfrm>
            <a:off x="4572000" y="19812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Judge 3대 증적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460462-A4AF-440A-AAAF-AE2B9BE69D75}"/>
              </a:ext>
            </a:extLst>
          </p:cNvPr>
          <p:cNvSpPr>
            <a:spLocks noGrp="1"/>
          </p:cNvSpPr>
          <p:nvPr/>
        </p:nvSpPr>
        <p:spPr>
          <a:xfrm>
            <a:off x="6908800" y="19812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CHECK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34BD90E-CC2A-4271-9952-B26DD7414190}"/>
              </a:ext>
            </a:extLst>
          </p:cNvPr>
          <p:cNvSpPr>
            <a:spLocks noGrp="1"/>
          </p:cNvSpPr>
          <p:nvPr/>
        </p:nvSpPr>
        <p:spPr>
          <a:xfrm>
            <a:off x="609600" y="2692400"/>
            <a:ext cx="7493000" cy="7112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8D076E-1646-4CA9-8FE9-EB59097F0336}"/>
              </a:ext>
            </a:extLst>
          </p:cNvPr>
          <p:cNvSpPr>
            <a:spLocks noGrp="1"/>
          </p:cNvSpPr>
          <p:nvPr/>
        </p:nvSpPr>
        <p:spPr>
          <a:xfrm>
            <a:off x="863600" y="2895600"/>
            <a:ext cx="2159000" cy="21544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CloudShell 조회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19671B-3788-470A-97DC-29026AD00A3C}"/>
              </a:ext>
            </a:extLst>
          </p:cNvPr>
          <p:cNvSpPr>
            <a:spLocks noGrp="1"/>
          </p:cNvSpPr>
          <p:nvPr/>
        </p:nvSpPr>
        <p:spPr>
          <a:xfrm>
            <a:off x="3175000" y="2895600"/>
            <a:ext cx="1270000" cy="39624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s3 ls · head-object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C52E88-6B38-4512-975B-84503497343A}"/>
              </a:ext>
            </a:extLst>
          </p:cNvPr>
          <p:cNvSpPr>
            <a:spLocks noGrp="1"/>
          </p:cNvSpPr>
          <p:nvPr/>
        </p:nvSpPr>
        <p:spPr>
          <a:xfrm>
            <a:off x="4572000" y="28956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목록 · AES256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7605F7-705C-4429-B420-50CC9DFA20E4}"/>
              </a:ext>
            </a:extLst>
          </p:cNvPr>
          <p:cNvSpPr>
            <a:spLocks noGrp="1"/>
          </p:cNvSpPr>
          <p:nvPr/>
        </p:nvSpPr>
        <p:spPr>
          <a:xfrm>
            <a:off x="6908800" y="28956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CHECK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8D553FC-9AA6-4B2F-970C-57E9E6BC2C08}"/>
              </a:ext>
            </a:extLst>
          </p:cNvPr>
          <p:cNvSpPr>
            <a:spLocks noGrp="1"/>
          </p:cNvSpPr>
          <p:nvPr/>
        </p:nvSpPr>
        <p:spPr>
          <a:xfrm>
            <a:off x="609600" y="3606800"/>
            <a:ext cx="7493000" cy="7112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9E7F8F-9BF2-436B-8097-E06A171FAD34}"/>
              </a:ext>
            </a:extLst>
          </p:cNvPr>
          <p:cNvSpPr>
            <a:spLocks noGrp="1"/>
          </p:cNvSpPr>
          <p:nvPr/>
        </p:nvSpPr>
        <p:spPr>
          <a:xfrm>
            <a:off x="863600" y="3810000"/>
            <a:ext cx="2159000" cy="21544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CloudTrail·삭제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B28146-3250-4B29-905F-77827C1D0C00}"/>
              </a:ext>
            </a:extLst>
          </p:cNvPr>
          <p:cNvSpPr>
            <a:spLocks noGrp="1"/>
          </p:cNvSpPr>
          <p:nvPr/>
        </p:nvSpPr>
        <p:spPr>
          <a:xfrm>
            <a:off x="3175000" y="3810000"/>
            <a:ext cx="1270000" cy="39624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lookup-events · rm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8B4F86-9B3C-402D-A046-32A601571DA2}"/>
              </a:ext>
            </a:extLst>
          </p:cNvPr>
          <p:cNvSpPr>
            <a:spLocks noGrp="1"/>
          </p:cNvSpPr>
          <p:nvPr/>
        </p:nvSpPr>
        <p:spPr>
          <a:xfrm>
            <a:off x="4572000" y="38100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이력 · 잔여 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56203E-A1F7-4FBC-82F0-8A978D6DBDF3}"/>
              </a:ext>
            </a:extLst>
          </p:cNvPr>
          <p:cNvSpPr>
            <a:spLocks noGrp="1"/>
          </p:cNvSpPr>
          <p:nvPr/>
        </p:nvSpPr>
        <p:spPr>
          <a:xfrm>
            <a:off x="6908800" y="38100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CHECK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B1D9B01-D7E1-4475-8F23-77378F831C0C}"/>
              </a:ext>
            </a:extLst>
          </p:cNvPr>
          <p:cNvSpPr>
            <a:spLocks noGrp="1"/>
          </p:cNvSpPr>
          <p:nvPr/>
        </p:nvSpPr>
        <p:spPr>
          <a:xfrm>
            <a:off x="8610600" y="1778000"/>
            <a:ext cx="2667000" cy="2540000"/>
          </a:xfrm>
          <a:prstGeom prst="roundRect">
            <a:avLst/>
          </a:prstGeom>
          <a:solidFill>
            <a:srgbClr val="FFF6E2"/>
          </a:solidFill>
          <a:ln>
            <a:solidFill>
              <a:srgbClr val="F4CF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7F7173-8092-4B43-99BA-50712DFC4199}"/>
              </a:ext>
            </a:extLst>
          </p:cNvPr>
          <p:cNvSpPr>
            <a:spLocks noGrp="1"/>
          </p:cNvSpPr>
          <p:nvPr/>
        </p:nvSpPr>
        <p:spPr>
          <a:xfrm>
            <a:off x="8890000" y="2108200"/>
            <a:ext cx="2108200" cy="184666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AWS 완료 조건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7D3808-D220-479D-80F6-AA0807356ECB}"/>
              </a:ext>
            </a:extLst>
          </p:cNvPr>
          <p:cNvSpPr>
            <a:spLocks noGrp="1"/>
          </p:cNvSpPr>
          <p:nvPr/>
        </p:nvSpPr>
        <p:spPr>
          <a:xfrm>
            <a:off x="8890000" y="2628900"/>
            <a:ext cx="2108200" cy="52322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DONE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72391C-A96F-4E6B-9240-F559D6D35DF1}"/>
              </a:ext>
            </a:extLst>
          </p:cNvPr>
          <p:cNvSpPr>
            <a:spLocks noGrp="1"/>
          </p:cNvSpPr>
          <p:nvPr/>
        </p:nvSpPr>
        <p:spPr>
          <a:xfrm>
            <a:off x="8890000" y="3505200"/>
            <a:ext cx="2108200" cy="21544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3개 증적 충족 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7E5D445-5299-4E58-84AD-F61C9B34FA30}"/>
              </a:ext>
            </a:extLst>
          </p:cNvPr>
          <p:cNvSpPr>
            <a:spLocks noGrp="1"/>
          </p:cNvSpPr>
          <p:nvPr/>
        </p:nvSpPr>
        <p:spPr>
          <a:xfrm>
            <a:off x="609600" y="4851400"/>
            <a:ext cx="10668000" cy="965200"/>
          </a:xfrm>
          <a:prstGeom prst="roundRect">
            <a:avLst/>
          </a:prstGeom>
          <a:solidFill>
            <a:srgbClr val="FAECEE"/>
          </a:solidFill>
          <a:ln>
            <a:solidFill>
              <a:srgbClr val="E8B1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1D5A30-958A-422C-A112-81ABB1BB1169}"/>
              </a:ext>
            </a:extLst>
          </p:cNvPr>
          <p:cNvSpPr>
            <a:spLocks noGrp="1"/>
          </p:cNvSpPr>
          <p:nvPr/>
        </p:nvSpPr>
        <p:spPr>
          <a:xfrm>
            <a:off x="889000" y="5105400"/>
            <a:ext cx="10109200" cy="2462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S3 업로드 → CloudShell 조회 → CloudTrail 감사 → 전체 삭제 → 잔여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244EA5-A4D5-461F-8A58-6B33856AE092}"/>
              </a:ext>
            </a:extLst>
          </p:cNvPr>
          <p:cNvSpPr>
            <a:spLocks noGrp="1"/>
          </p:cNvSpPr>
          <p:nvPr/>
        </p:nvSpPr>
        <p:spPr>
          <a:xfrm>
            <a:off x="609600" y="65024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3팀 LLM Judge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D2EBE2-F103-4C16-8CA3-AFFF64886E3E}"/>
              </a:ext>
            </a:extLst>
          </p:cNvPr>
          <p:cNvSpPr>
            <a:spLocks noGrp="1"/>
          </p:cNvSpPr>
          <p:nvPr/>
        </p:nvSpPr>
        <p:spPr>
          <a:xfrm>
            <a:off x="10414000" y="65024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2087268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04664A6-58B1-4C2B-AB9E-B520A95847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C9A85-18FB-4A1F-94E6-32EDF8A27EC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08 · EVIDENCE SECURITY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5E3EA5-889B-4A31-BB8D-9FC6D47803B4}"/>
              </a:ext>
            </a:extLst>
          </p:cNvPr>
          <p:cNvSpPr>
            <a:spLocks noGrp="1"/>
          </p:cNvSpPr>
          <p:nvPr/>
        </p:nvSpPr>
        <p:spPr>
          <a:xfrm>
            <a:off x="609600" y="7112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Judge 결과의 기밀성·무결성·감사 가능성을 지킵니다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C4A4C-1DA6-4E9E-937F-20DBD7D332B0}"/>
              </a:ext>
            </a:extLst>
          </p:cNvPr>
          <p:cNvSpPr>
            <a:spLocks noGrp="1"/>
          </p:cNvSpPr>
          <p:nvPr/>
        </p:nvSpPr>
        <p:spPr>
          <a:xfrm>
            <a:off x="11150600" y="4826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9A11745-6810-48EB-990E-16D6ED2D2570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003800" cy="6604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27AB1-1530-44B3-ACCE-E841AAE5664B}"/>
              </a:ext>
            </a:extLst>
          </p:cNvPr>
          <p:cNvSpPr>
            <a:spLocks noGrp="1"/>
          </p:cNvSpPr>
          <p:nvPr/>
        </p:nvSpPr>
        <p:spPr>
          <a:xfrm>
            <a:off x="787400" y="18796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0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26D318-2152-491F-903C-0E311405B7AF}"/>
              </a:ext>
            </a:extLst>
          </p:cNvPr>
          <p:cNvSpPr>
            <a:spLocks noGrp="1"/>
          </p:cNvSpPr>
          <p:nvPr/>
        </p:nvSpPr>
        <p:spPr>
          <a:xfrm>
            <a:off x="1422400" y="1841500"/>
            <a:ext cx="39624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Judge 결과 퍼블릭 노출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222B57-FECF-473E-89D3-6D105CE2FC7C}"/>
              </a:ext>
            </a:extLst>
          </p:cNvPr>
          <p:cNvSpPr>
            <a:spLocks noGrp="1"/>
          </p:cNvSpPr>
          <p:nvPr/>
        </p:nvSpPr>
        <p:spPr>
          <a:xfrm>
            <a:off x="5740400" y="18415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A117466-DBFB-4294-AFDF-BFEF52C9CB35}"/>
              </a:ext>
            </a:extLst>
          </p:cNvPr>
          <p:cNvSpPr>
            <a:spLocks noGrp="1"/>
          </p:cNvSpPr>
          <p:nvPr/>
        </p:nvSpPr>
        <p:spPr>
          <a:xfrm>
            <a:off x="6248400" y="1676400"/>
            <a:ext cx="5029200" cy="660400"/>
          </a:xfrm>
          <a:prstGeom prst="roundRect">
            <a:avLst/>
          </a:prstGeom>
          <a:solidFill>
            <a:srgbClr val="E8F7F1"/>
          </a:solidFill>
          <a:ln>
            <a:solidFill>
              <a:srgbClr val="B8E0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1995A5-F354-4CA1-88DD-253F4FAF8362}"/>
              </a:ext>
            </a:extLst>
          </p:cNvPr>
          <p:cNvSpPr>
            <a:spLocks noGrp="1"/>
          </p:cNvSpPr>
          <p:nvPr/>
        </p:nvSpPr>
        <p:spPr>
          <a:xfrm>
            <a:off x="6477000" y="1841500"/>
            <a:ext cx="45466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Block Public Access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5660339-9A05-45B0-8644-7F328B11CA6C}"/>
              </a:ext>
            </a:extLst>
          </p:cNvPr>
          <p:cNvSpPr>
            <a:spLocks noGrp="1"/>
          </p:cNvSpPr>
          <p:nvPr/>
        </p:nvSpPr>
        <p:spPr>
          <a:xfrm>
            <a:off x="609600" y="2540000"/>
            <a:ext cx="5003800" cy="6604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A27F58-BCE2-4DE0-AB7A-79A2AE43C5C7}"/>
              </a:ext>
            </a:extLst>
          </p:cNvPr>
          <p:cNvSpPr>
            <a:spLocks noGrp="1"/>
          </p:cNvSpPr>
          <p:nvPr/>
        </p:nvSpPr>
        <p:spPr>
          <a:xfrm>
            <a:off x="787400" y="27432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0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2A7581-78F2-4C1E-A1E0-592DE3E2228D}"/>
              </a:ext>
            </a:extLst>
          </p:cNvPr>
          <p:cNvSpPr>
            <a:spLocks noGrp="1"/>
          </p:cNvSpPr>
          <p:nvPr/>
        </p:nvSpPr>
        <p:spPr>
          <a:xfrm>
            <a:off x="1422400" y="2705100"/>
            <a:ext cx="39624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암호화 누락·변조 위험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E13DC7-04E7-4508-9BAF-25356EDCDDA0}"/>
              </a:ext>
            </a:extLst>
          </p:cNvPr>
          <p:cNvSpPr>
            <a:spLocks noGrp="1"/>
          </p:cNvSpPr>
          <p:nvPr/>
        </p:nvSpPr>
        <p:spPr>
          <a:xfrm>
            <a:off x="5740400" y="27051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EDC825D-6D8F-44BB-A891-5262B4759ECC}"/>
              </a:ext>
            </a:extLst>
          </p:cNvPr>
          <p:cNvSpPr>
            <a:spLocks noGrp="1"/>
          </p:cNvSpPr>
          <p:nvPr/>
        </p:nvSpPr>
        <p:spPr>
          <a:xfrm>
            <a:off x="6248400" y="2540000"/>
            <a:ext cx="5029200" cy="660400"/>
          </a:xfrm>
          <a:prstGeom prst="roundRect">
            <a:avLst/>
          </a:prstGeom>
          <a:solidFill>
            <a:srgbClr val="E8F7F1"/>
          </a:solidFill>
          <a:ln>
            <a:solidFill>
              <a:srgbClr val="B8E0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8BD0AF-C6CA-482B-B95D-69A9D2DD7298}"/>
              </a:ext>
            </a:extLst>
          </p:cNvPr>
          <p:cNvSpPr>
            <a:spLocks noGrp="1"/>
          </p:cNvSpPr>
          <p:nvPr/>
        </p:nvSpPr>
        <p:spPr>
          <a:xfrm>
            <a:off x="6477000" y="2705100"/>
            <a:ext cx="45466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SSE-S3 · AES256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275345B-59A7-480E-914F-AB24C162F80B}"/>
              </a:ext>
            </a:extLst>
          </p:cNvPr>
          <p:cNvSpPr>
            <a:spLocks noGrp="1"/>
          </p:cNvSpPr>
          <p:nvPr/>
        </p:nvSpPr>
        <p:spPr>
          <a:xfrm>
            <a:off x="609600" y="3403600"/>
            <a:ext cx="5003800" cy="6604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77FE00-9D46-44D6-A144-8EE7657C8D83}"/>
              </a:ext>
            </a:extLst>
          </p:cNvPr>
          <p:cNvSpPr>
            <a:spLocks noGrp="1"/>
          </p:cNvSpPr>
          <p:nvPr/>
        </p:nvSpPr>
        <p:spPr>
          <a:xfrm>
            <a:off x="787400" y="36068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0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B162C0-D18A-454F-B012-39F6C6A9C54C}"/>
              </a:ext>
            </a:extLst>
          </p:cNvPr>
          <p:cNvSpPr>
            <a:spLocks noGrp="1"/>
          </p:cNvSpPr>
          <p:nvPr/>
        </p:nvSpPr>
        <p:spPr>
          <a:xfrm>
            <a:off x="1422400" y="3568700"/>
            <a:ext cx="39624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작업자·작업시간 불명확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80FDBF-49C8-4297-85EB-6D6102BD54CA}"/>
              </a:ext>
            </a:extLst>
          </p:cNvPr>
          <p:cNvSpPr>
            <a:spLocks noGrp="1"/>
          </p:cNvSpPr>
          <p:nvPr/>
        </p:nvSpPr>
        <p:spPr>
          <a:xfrm>
            <a:off x="5740400" y="35687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D10C21A-D0CC-4A41-9396-4645329E4DDD}"/>
              </a:ext>
            </a:extLst>
          </p:cNvPr>
          <p:cNvSpPr>
            <a:spLocks noGrp="1"/>
          </p:cNvSpPr>
          <p:nvPr/>
        </p:nvSpPr>
        <p:spPr>
          <a:xfrm>
            <a:off x="6248400" y="3403600"/>
            <a:ext cx="5029200" cy="660400"/>
          </a:xfrm>
          <a:prstGeom prst="roundRect">
            <a:avLst/>
          </a:prstGeom>
          <a:solidFill>
            <a:srgbClr val="E8F7F1"/>
          </a:solidFill>
          <a:ln>
            <a:solidFill>
              <a:srgbClr val="B8E0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7F499E-637F-48B5-8B53-1C3FE58D9A88}"/>
              </a:ext>
            </a:extLst>
          </p:cNvPr>
          <p:cNvSpPr>
            <a:spLocks noGrp="1"/>
          </p:cNvSpPr>
          <p:nvPr/>
        </p:nvSpPr>
        <p:spPr>
          <a:xfrm>
            <a:off x="6477000" y="3568700"/>
            <a:ext cx="45466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CloudTrail 사용자·시간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CCC66A9-EDC2-4D91-AF17-DC8447F3D16C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5003800" cy="6604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5C7E62-003E-41D0-85AC-AE60896DE736}"/>
              </a:ext>
            </a:extLst>
          </p:cNvPr>
          <p:cNvSpPr>
            <a:spLocks noGrp="1"/>
          </p:cNvSpPr>
          <p:nvPr/>
        </p:nvSpPr>
        <p:spPr>
          <a:xfrm>
            <a:off x="787400" y="44704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0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25003D-2CB5-449F-BF82-9CB50B67145D}"/>
              </a:ext>
            </a:extLst>
          </p:cNvPr>
          <p:cNvSpPr>
            <a:spLocks noGrp="1"/>
          </p:cNvSpPr>
          <p:nvPr/>
        </p:nvSpPr>
        <p:spPr>
          <a:xfrm>
            <a:off x="1422400" y="4432300"/>
            <a:ext cx="39624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잔여 Judge 증적·버킷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96561E-C55F-4A07-A035-4A122C97A04D}"/>
              </a:ext>
            </a:extLst>
          </p:cNvPr>
          <p:cNvSpPr>
            <a:spLocks noGrp="1"/>
          </p:cNvSpPr>
          <p:nvPr/>
        </p:nvSpPr>
        <p:spPr>
          <a:xfrm>
            <a:off x="5740400" y="44323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E1B9DCE-BC9D-4EC9-8AAA-B1FDB362E845}"/>
              </a:ext>
            </a:extLst>
          </p:cNvPr>
          <p:cNvSpPr>
            <a:spLocks noGrp="1"/>
          </p:cNvSpPr>
          <p:nvPr/>
        </p:nvSpPr>
        <p:spPr>
          <a:xfrm>
            <a:off x="6248400" y="4267200"/>
            <a:ext cx="5029200" cy="660400"/>
          </a:xfrm>
          <a:prstGeom prst="roundRect">
            <a:avLst/>
          </a:prstGeom>
          <a:solidFill>
            <a:srgbClr val="E8F7F1"/>
          </a:solidFill>
          <a:ln>
            <a:solidFill>
              <a:srgbClr val="B8E0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6DE24F-2F45-4F16-B74B-86A2F7A0F5CF}"/>
              </a:ext>
            </a:extLst>
          </p:cNvPr>
          <p:cNvSpPr>
            <a:spLocks noGrp="1"/>
          </p:cNvSpPr>
          <p:nvPr/>
        </p:nvSpPr>
        <p:spPr>
          <a:xfrm>
            <a:off x="6477000" y="4432300"/>
            <a:ext cx="4546600" cy="200055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recursive delete + delete-bucket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4809FE7-AD6E-4773-B72E-53F583C23457}"/>
              </a:ext>
            </a:extLst>
          </p:cNvPr>
          <p:cNvSpPr>
            <a:spLocks noGrp="1"/>
          </p:cNvSpPr>
          <p:nvPr/>
        </p:nvSpPr>
        <p:spPr>
          <a:xfrm>
            <a:off x="609600" y="5384800"/>
            <a:ext cx="3302000" cy="1117600"/>
          </a:xfrm>
          <a:prstGeom prst="roundRect">
            <a:avLst/>
          </a:prstGeom>
          <a:solidFill>
            <a:srgbClr val="FFFFFF"/>
          </a:solidFill>
          <a:ln>
            <a:solidFill>
              <a:srgbClr val="CCDC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7B34AEF-A4BD-47EA-8F71-470106F5FB89}"/>
              </a:ext>
            </a:extLst>
          </p:cNvPr>
          <p:cNvSpPr>
            <a:spLocks noGrp="1"/>
          </p:cNvSpPr>
          <p:nvPr/>
        </p:nvSpPr>
        <p:spPr>
          <a:xfrm>
            <a:off x="609600" y="5384800"/>
            <a:ext cx="76200" cy="1117600"/>
          </a:xfrm>
          <a:prstGeom prst="rect">
            <a:avLst/>
          </a:prstGeom>
          <a:solidFill>
            <a:srgbClr val="14845C"/>
          </a:solidFill>
          <a:ln>
            <a:solidFill>
              <a:srgbClr val="1484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1836D0-62C4-47AE-8B5C-F599DDFA8487}"/>
              </a:ext>
            </a:extLst>
          </p:cNvPr>
          <p:cNvSpPr>
            <a:spLocks noGrp="1"/>
          </p:cNvSpPr>
          <p:nvPr/>
        </p:nvSpPr>
        <p:spPr>
          <a:xfrm>
            <a:off x="863600" y="5575300"/>
            <a:ext cx="2921000" cy="384721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F6D1F2-8F19-49F4-8664-CE1DC58B5F66}"/>
              </a:ext>
            </a:extLst>
          </p:cNvPr>
          <p:cNvSpPr>
            <a:spLocks noGrp="1"/>
          </p:cNvSpPr>
          <p:nvPr/>
        </p:nvSpPr>
        <p:spPr>
          <a:xfrm>
            <a:off x="863600" y="6070600"/>
            <a:ext cx="2921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Judge 중대 위반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134F5A5-DD23-4E43-AA0C-75B8C6CCB645}"/>
              </a:ext>
            </a:extLst>
          </p:cNvPr>
          <p:cNvSpPr>
            <a:spLocks noGrp="1"/>
          </p:cNvSpPr>
          <p:nvPr/>
        </p:nvSpPr>
        <p:spPr>
          <a:xfrm>
            <a:off x="4191000" y="5384800"/>
            <a:ext cx="7086600" cy="1117600"/>
          </a:xfrm>
          <a:prstGeom prst="roundRect">
            <a:avLst/>
          </a:prstGeom>
          <a:solidFill>
            <a:srgbClr val="0C3460"/>
          </a:solidFill>
          <a:ln>
            <a:solidFill>
              <a:srgbClr val="0C34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178AE4-E732-4321-BE81-CB52CDADEAE6}"/>
              </a:ext>
            </a:extLst>
          </p:cNvPr>
          <p:cNvSpPr>
            <a:spLocks noGrp="1"/>
          </p:cNvSpPr>
          <p:nvPr/>
        </p:nvSpPr>
        <p:spPr>
          <a:xfrm>
            <a:off x="4445000" y="55753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89D3E0"/>
                </a:solidFill>
                <a:latin typeface="맑은 고딕"/>
                <a:ea typeface="맑은 고딕"/>
                <a:cs typeface="맑은 고딕"/>
              </a:rPr>
              <a:t>3팀 핵심 증적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CF04B3-A104-4D8D-90D6-FA6C26B91ADE}"/>
              </a:ext>
            </a:extLst>
          </p:cNvPr>
          <p:cNvSpPr>
            <a:spLocks noGrp="1"/>
          </p:cNvSpPr>
          <p:nvPr/>
        </p:nvSpPr>
        <p:spPr>
          <a:xfrm>
            <a:off x="4445000" y="5956300"/>
            <a:ext cx="6477000" cy="21544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Judge CSV · 품질점수 보고서 · 배포판정 보고서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2BFA3E-433A-49EC-9D5B-CFAD4FC4D48A}"/>
              </a:ext>
            </a:extLst>
          </p:cNvPr>
          <p:cNvSpPr>
            <a:spLocks noGrp="1"/>
          </p:cNvSpPr>
          <p:nvPr/>
        </p:nvSpPr>
        <p:spPr>
          <a:xfrm>
            <a:off x="609600" y="65024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3팀 LLM Judge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11FBAF-E192-453A-A3E7-5DE9428FC242}"/>
              </a:ext>
            </a:extLst>
          </p:cNvPr>
          <p:cNvSpPr>
            <a:spLocks noGrp="1"/>
          </p:cNvSpPr>
          <p:nvPr/>
        </p:nvSpPr>
        <p:spPr>
          <a:xfrm>
            <a:off x="10414000" y="65024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4152562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B8AE888-A624-4B38-A46D-ADA33CD4B2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21C7D-787B-4106-B8AE-30011F4ECD8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09 ·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57A8BD-E4D4-483F-919A-7BA4F13AE61C}"/>
              </a:ext>
            </a:extLst>
          </p:cNvPr>
          <p:cNvSpPr>
            <a:spLocks noGrp="1"/>
          </p:cNvSpPr>
          <p:nvPr/>
        </p:nvSpPr>
        <p:spPr>
          <a:xfrm>
            <a:off x="609600" y="7112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독립 평가 89점으로 최종 배포를 보류했습니다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9E7D0-4359-4CC1-A935-9D19FD9FBAFD}"/>
              </a:ext>
            </a:extLst>
          </p:cNvPr>
          <p:cNvSpPr>
            <a:spLocks noGrp="1"/>
          </p:cNvSpPr>
          <p:nvPr/>
        </p:nvSpPr>
        <p:spPr>
          <a:xfrm>
            <a:off x="11150600" y="4826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D41C0B6-4272-4ECC-8B32-14E2085EA31C}"/>
              </a:ext>
            </a:extLst>
          </p:cNvPr>
          <p:cNvSpPr>
            <a:spLocks noGrp="1"/>
          </p:cNvSpPr>
          <p:nvPr/>
        </p:nvSpPr>
        <p:spPr>
          <a:xfrm>
            <a:off x="609600" y="1727200"/>
            <a:ext cx="5080000" cy="3225800"/>
          </a:xfrm>
          <a:prstGeom prst="roundRect">
            <a:avLst/>
          </a:prstGeom>
          <a:solidFill>
            <a:srgbClr val="E8F7F1"/>
          </a:solidFill>
          <a:ln>
            <a:solidFill>
              <a:srgbClr val="B8E0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AB8EDB-F9E9-413C-BA6A-A38EFC71D3D4}"/>
              </a:ext>
            </a:extLst>
          </p:cNvPr>
          <p:cNvSpPr>
            <a:spLocks noGrp="1"/>
          </p:cNvSpPr>
          <p:nvPr/>
        </p:nvSpPr>
        <p:spPr>
          <a:xfrm>
            <a:off x="889000" y="2032000"/>
            <a:ext cx="4318000" cy="292388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9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3팀 결론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6C00E9-191C-4A3A-A30A-AC56486AF492}"/>
              </a:ext>
            </a:extLst>
          </p:cNvPr>
          <p:cNvSpPr>
            <a:spLocks noGrp="1"/>
          </p:cNvSpPr>
          <p:nvPr/>
        </p:nvSpPr>
        <p:spPr>
          <a:xfrm>
            <a:off x="914400" y="2667000"/>
            <a:ext cx="4241800" cy="92333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✓ 생성 모델과 독립 Judge 분리
✓ 9개 항목 100점 평가
✓ Judge 89점·중대 위반 0건
✓ 95점 기준 비교 결과 HOLD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58ECFC0-359E-49F9-AAEA-0A6B10B01721}"/>
              </a:ext>
            </a:extLst>
          </p:cNvPr>
          <p:cNvSpPr>
            <a:spLocks noGrp="1"/>
          </p:cNvSpPr>
          <p:nvPr/>
        </p:nvSpPr>
        <p:spPr>
          <a:xfrm>
            <a:off x="6096000" y="1727200"/>
            <a:ext cx="5181600" cy="3225800"/>
          </a:xfrm>
          <a:prstGeom prst="roundRect">
            <a:avLst/>
          </a:prstGeom>
          <a:solidFill>
            <a:srgbClr val="FFF6E2"/>
          </a:solidFill>
          <a:ln>
            <a:solidFill>
              <a:srgbClr val="F4CF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AE3D75-7168-416E-9BAC-6EB3CDDE1BD3}"/>
              </a:ext>
            </a:extLst>
          </p:cNvPr>
          <p:cNvSpPr>
            <a:spLocks noGrp="1"/>
          </p:cNvSpPr>
          <p:nvPr/>
        </p:nvSpPr>
        <p:spPr>
          <a:xfrm>
            <a:off x="6375400" y="2032000"/>
            <a:ext cx="4318000" cy="292388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9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AWS 증적 조건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4EEFC-354A-4729-8D48-84A3D702003E}"/>
              </a:ext>
            </a:extLst>
          </p:cNvPr>
          <p:cNvSpPr>
            <a:spLocks noGrp="1"/>
          </p:cNvSpPr>
          <p:nvPr/>
        </p:nvSpPr>
        <p:spPr>
          <a:xfrm>
            <a:off x="6400800" y="2667000"/>
            <a:ext cx="4292600" cy="923330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1. Judge 3대 증적 S3 업로드
2. 퍼블릭 차단·AES256 확인
3. CloudShell 조회·CloudTrail 감사
4. 객체·버킷 삭제·잔여 0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EA9B818-5B1D-433D-AEA7-2C664C7CC02D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668000" cy="863600"/>
          </a:xfrm>
          <a:prstGeom prst="roundRect">
            <a:avLst/>
          </a:prstGeom>
          <a:solidFill>
            <a:srgbClr val="0C3460"/>
          </a:solidFill>
          <a:ln>
            <a:solidFill>
              <a:srgbClr val="0C34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672AF4-43A4-4CA8-9F44-D460E58E6C71}"/>
              </a:ext>
            </a:extLst>
          </p:cNvPr>
          <p:cNvSpPr>
            <a:spLocks noGrp="1"/>
          </p:cNvSpPr>
          <p:nvPr/>
        </p:nvSpPr>
        <p:spPr>
          <a:xfrm>
            <a:off x="889000" y="5588000"/>
            <a:ext cx="10109200" cy="307777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독립 평가 → 정량 점수 → 배포판정 → 감사 가능한 증적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816507-5FAB-431F-B81F-CE5BE4092EFC}"/>
              </a:ext>
            </a:extLst>
          </p:cNvPr>
          <p:cNvSpPr>
            <a:spLocks noGrp="1"/>
          </p:cNvSpPr>
          <p:nvPr/>
        </p:nvSpPr>
        <p:spPr>
          <a:xfrm>
            <a:off x="609600" y="65024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Q&amp;A · Judge 결과 CSV와 배포판정 근거로 답변드리겠습니다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792336-4D09-43B5-B73A-E424BBE6C1F9}"/>
              </a:ext>
            </a:extLst>
          </p:cNvPr>
          <p:cNvSpPr>
            <a:spLocks noGrp="1"/>
          </p:cNvSpPr>
          <p:nvPr/>
        </p:nvSpPr>
        <p:spPr>
          <a:xfrm>
            <a:off x="10414000" y="65024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340640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1442</Words>
  <Application>Microsoft Office PowerPoint</Application>
  <DocSecurity>0</DocSecurity>
  <PresentationFormat>와이드스크린</PresentationFormat>
  <Paragraphs>272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DWIT</cp:lastModifiedBy>
  <cp:revision>1</cp:revision>
  <dcterms:created xsi:type="dcterms:W3CDTF">2026-07-29T06:46:51Z</dcterms:created>
  <dcterms:modified xsi:type="dcterms:W3CDTF">2026-07-29T06:57:31Z</dcterms:modified>
</cp:coreProperties>
</file>